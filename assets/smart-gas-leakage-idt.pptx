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宋体" charset="0"/>
        <a:cs typeface="Droid Sans" charset="0"/>
      </a:defRPr>
    </a:lvl1pPr>
    <a:lvl2pPr marL="457200" indent="0" algn="l" defTabSz="914400" eaLnBrk="1" fontAlgn="auto" latinLnBrk="0" hangingPunct="1">
      <a:buNone/>
      <a:defRPr sz="1800" kern="1200">
        <a:solidFill>
          <a:schemeClr val="tx1"/>
        </a:solidFill>
        <a:latin typeface="Droid Sans" charset="0"/>
        <a:ea typeface="宋体" charset="0"/>
        <a:cs typeface="Droid Sans" charset="0"/>
      </a:defRPr>
    </a:lvl2pPr>
    <a:lvl3pPr marL="914400" indent="0" algn="l" defTabSz="914400" eaLnBrk="1" fontAlgn="auto" latinLnBrk="0" hangingPunct="1">
      <a:buNone/>
      <a:defRPr sz="1800" kern="1200">
        <a:solidFill>
          <a:schemeClr val="tx1"/>
        </a:solidFill>
        <a:latin typeface="Droid Sans" charset="0"/>
        <a:ea typeface="宋体" charset="0"/>
        <a:cs typeface="Droid Sans" charset="0"/>
      </a:defRPr>
    </a:lvl3pPr>
    <a:lvl4pPr marL="1371600" indent="0" algn="l" defTabSz="914400" eaLnBrk="1" fontAlgn="auto" latinLnBrk="0" hangingPunct="1">
      <a:buNone/>
      <a:defRPr sz="1800" kern="1200">
        <a:solidFill>
          <a:schemeClr val="tx1"/>
        </a:solidFill>
        <a:latin typeface="Droid Sans" charset="0"/>
        <a:ea typeface="宋体" charset="0"/>
        <a:cs typeface="Droid Sans" charset="0"/>
      </a:defRPr>
    </a:lvl4pPr>
    <a:lvl5pPr marL="1828800" indent="0" algn="l" defTabSz="914400" eaLnBrk="1" fontAlgn="auto" latinLnBrk="0" hangingPunct="1">
      <a:buNone/>
      <a:defRPr sz="1800" kern="1200">
        <a:solidFill>
          <a:schemeClr val="tx1"/>
        </a:solidFill>
        <a:latin typeface="Droid Sans" charset="0"/>
        <a:ea typeface="宋体" charset="0"/>
        <a:cs typeface="Droid Sans" charset="0"/>
      </a:defRPr>
    </a:lvl5pPr>
    <a:lvl6pPr marL="2286000" indent="0" algn="l" defTabSz="914400" eaLnBrk="1" fontAlgn="auto" latinLnBrk="0" hangingPunct="1">
      <a:buNone/>
      <a:defRPr sz="1800" kern="1200">
        <a:solidFill>
          <a:schemeClr val="tx1"/>
        </a:solidFill>
        <a:latin typeface="Droid Sans" charset="0"/>
        <a:ea typeface="宋体" charset="0"/>
        <a:cs typeface="Droid Sans" charset="0"/>
      </a:defRPr>
    </a:lvl6pPr>
    <a:lvl7pPr marL="2743200" indent="0" algn="l" defTabSz="914400" eaLnBrk="1" fontAlgn="auto" latinLnBrk="0" hangingPunct="1">
      <a:buNone/>
      <a:defRPr sz="1800" kern="1200">
        <a:solidFill>
          <a:schemeClr val="tx1"/>
        </a:solidFill>
        <a:latin typeface="Droid Sans" charset="0"/>
        <a:ea typeface="宋体" charset="0"/>
        <a:cs typeface="Droid Sans" charset="0"/>
      </a:defRPr>
    </a:lvl7pPr>
    <a:lvl8pPr marL="3200400" indent="0" algn="l" defTabSz="914400" eaLnBrk="1" fontAlgn="auto" latinLnBrk="0" hangingPunct="1">
      <a:buNone/>
      <a:defRPr sz="1800" kern="1200">
        <a:solidFill>
          <a:schemeClr val="tx1"/>
        </a:solidFill>
        <a:latin typeface="Droid Sans" charset="0"/>
        <a:ea typeface="宋体" charset="0"/>
        <a:cs typeface="Droid Sans" charset="0"/>
      </a:defRPr>
    </a:lvl8pPr>
    <a:lvl9pPr marL="3200400" indent="0" algn="l" defTabSz="914400" eaLnBrk="1" fontAlgn="auto" latinLnBrk="0" hangingPunct="1">
      <a:buNone/>
      <a:defRPr sz="1800" kern="1200">
        <a:solidFill>
          <a:schemeClr val="tx1"/>
        </a:solidFill>
        <a:latin typeface="Droid Sans" charset="0"/>
        <a:ea typeface="宋体" charset="0"/>
        <a:cs typeface="Droid Sans" charset="0"/>
      </a:defRPr>
    </a:lvl9pPr>
  </p:defaultTextStyle>
  <p:extLst>
    <p:ext uri="{EFAFB233-063F-42B5-8137-9DF3F51BA10A}">
      <p15:sldGuideLst xmlns:p15="http://schemas.microsoft.com/office/powerpoint/2012/main">
        <p15:guide id="1" orient="horz" pos="2136">
          <p15:clr>
            <a:srgbClr val="A4A3A4"/>
          </p15:clr>
        </p15:guide>
        <p15:guide id="2" pos="153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2574" autoAdjust="0"/>
    <p:restoredTop sz="99500" autoAdjust="0"/>
  </p:normalViewPr>
  <p:slideViewPr>
    <p:cSldViewPr>
      <p:cViewPr varScale="1">
        <p:scale>
          <a:sx n="64" d="100"/>
          <a:sy n="64" d="100"/>
        </p:scale>
        <p:origin x="653" y="82"/>
      </p:cViewPr>
      <p:guideLst>
        <p:guide orient="horz" pos="2136"/>
        <p:guide pos="15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S" userId="e2ce3b90556a1c59" providerId="LiveId" clId="{318F64C0-8E42-4ADD-8D6A-24804371966A}"/>
    <pc:docChg chg="custSel modSld">
      <pc:chgData name="DEEPIKA S" userId="e2ce3b90556a1c59" providerId="LiveId" clId="{318F64C0-8E42-4ADD-8D6A-24804371966A}" dt="2026-07-26T14:59:40.609" v="15" actId="20577"/>
      <pc:docMkLst>
        <pc:docMk/>
      </pc:docMkLst>
      <pc:sldChg chg="addSp delSp modSp mod">
        <pc:chgData name="DEEPIKA S" userId="e2ce3b90556a1c59" providerId="LiveId" clId="{318F64C0-8E42-4ADD-8D6A-24804371966A}" dt="2026-07-26T14:54:41.314" v="4" actId="1076"/>
        <pc:sldMkLst>
          <pc:docMk/>
          <pc:sldMk cId="1801316186" sldId="260"/>
        </pc:sldMkLst>
        <pc:picChg chg="add mod">
          <ac:chgData name="DEEPIKA S" userId="e2ce3b90556a1c59" providerId="LiveId" clId="{318F64C0-8E42-4ADD-8D6A-24804371966A}" dt="2026-07-26T14:54:41.314" v="4" actId="1076"/>
          <ac:picMkLst>
            <pc:docMk/>
            <pc:sldMk cId="1801316186" sldId="260"/>
            <ac:picMk id="3" creationId="{EEE53127-0659-FE94-2373-FDC2367B2323}"/>
          </ac:picMkLst>
        </pc:picChg>
        <pc:picChg chg="del">
          <ac:chgData name="DEEPIKA S" userId="e2ce3b90556a1c59" providerId="LiveId" clId="{318F64C0-8E42-4ADD-8D6A-24804371966A}" dt="2026-07-26T14:54:00.968" v="0" actId="21"/>
          <ac:picMkLst>
            <pc:docMk/>
            <pc:sldMk cId="1801316186" sldId="260"/>
            <ac:picMk id="9" creationId="{00000000-0000-0000-0000-000000000000}"/>
          </ac:picMkLst>
        </pc:picChg>
      </pc:sldChg>
      <pc:sldChg chg="addSp delSp modSp mod">
        <pc:chgData name="DEEPIKA S" userId="e2ce3b90556a1c59" providerId="LiveId" clId="{318F64C0-8E42-4ADD-8D6A-24804371966A}" dt="2026-07-26T14:59:40.609" v="15" actId="20577"/>
        <pc:sldMkLst>
          <pc:docMk/>
          <pc:sldMk cId="1216944366" sldId="262"/>
        </pc:sldMkLst>
        <pc:spChg chg="mod">
          <ac:chgData name="DEEPIKA S" userId="e2ce3b90556a1c59" providerId="LiveId" clId="{318F64C0-8E42-4ADD-8D6A-24804371966A}" dt="2026-07-26T14:59:40.609" v="15" actId="20577"/>
          <ac:spMkLst>
            <pc:docMk/>
            <pc:sldMk cId="1216944366" sldId="262"/>
            <ac:spMk id="117" creationId="{00000000-0000-0000-0000-000000000000}"/>
          </ac:spMkLst>
        </pc:spChg>
        <pc:picChg chg="add mod">
          <ac:chgData name="DEEPIKA S" userId="e2ce3b90556a1c59" providerId="LiveId" clId="{318F64C0-8E42-4ADD-8D6A-24804371966A}" dt="2026-07-26T14:59:01.906" v="10" actId="14100"/>
          <ac:picMkLst>
            <pc:docMk/>
            <pc:sldMk cId="1216944366" sldId="262"/>
            <ac:picMk id="3" creationId="{4D51D2C8-E75E-F5FF-064A-F67F4F364F15}"/>
          </ac:picMkLst>
        </pc:picChg>
        <pc:picChg chg="del">
          <ac:chgData name="DEEPIKA S" userId="e2ce3b90556a1c59" providerId="LiveId" clId="{318F64C0-8E42-4ADD-8D6A-24804371966A}" dt="2026-07-26T14:58:33.339" v="5" actId="21"/>
          <ac:picMkLst>
            <pc:docMk/>
            <pc:sldMk cId="1216944366" sldId="262"/>
            <ac:picMk id="8"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1371600" y="3195637"/>
            <a:ext cx="15544800" cy="2205037"/>
          </a:xfrm>
        </p:spPr>
        <p:txBody>
          <a:bodyPr/>
          <a:lstStyle/>
          <a:p>
            <a:r>
              <a:rPr lang="zh-CN" altLang="en-US"/>
              <a:t>单击此处编辑母版标题样式</a:t>
            </a:r>
          </a:p>
        </p:txBody>
      </p:sp>
      <p:sp>
        <p:nvSpPr>
          <p:cNvPr id="3" name="Text box"/>
          <p:cNvSpPr>
            <a:spLocks noGrp="1"/>
          </p:cNvSpPr>
          <p:nvPr>
            <p:ph type="subTitle" idx="1"/>
          </p:nvPr>
        </p:nvSpPr>
        <p:spPr>
          <a:xfrm>
            <a:off x="2743200" y="5829299"/>
            <a:ext cx="12801600" cy="262889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1793177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1012613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296904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1761008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a:t>单击此处编辑母版标题样式</a:t>
            </a:r>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12909108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1746916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1543967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391815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69699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595838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pPr/>
              <a:t>2026/7/26</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extLst>
      <p:ext uri="{BB962C8B-B14F-4D97-AF65-F5344CB8AC3E}">
        <p14:creationId xmlns:p14="http://schemas.microsoft.com/office/powerpoint/2010/main" val="970187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7" name="Text box"/>
          <p:cNvSpPr>
            <a:spLocks noGrp="1"/>
          </p:cNvSpPr>
          <p:nvPr>
            <p:ph type="dt" idx="10"/>
          </p:nvPr>
        </p:nvSpPr>
        <p:spPr>
          <a:xfrm>
            <a:off x="457200" y="6356349"/>
            <a:ext cx="21336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l"/>
            <a:r>
              <a:rPr lang="en-US" altLang="zh-CN" sz="1200">
                <a:solidFill>
                  <a:srgbClr val="898989"/>
                </a:solidFill>
                <a:latin typeface="Calibri" charset="0"/>
                <a:ea typeface="宋体" charset="0"/>
                <a:cs typeface="Calibri" charset="0"/>
              </a:rPr>
              <a:t>Date/Time</a:t>
            </a:r>
            <a:endParaRPr lang="zh-CN" altLang="en-US" sz="1200">
              <a:solidFill>
                <a:srgbClr val="898989"/>
              </a:solidFill>
              <a:latin typeface="Calibri" charset="0"/>
              <a:ea typeface="宋体" charset="0"/>
              <a:cs typeface="Calibri" charset="0"/>
            </a:endParaRPr>
          </a:p>
        </p:txBody>
      </p:sp>
      <p:sp>
        <p:nvSpPr>
          <p:cNvPr id="8" name="Text box"/>
          <p:cNvSpPr>
            <a:spLocks noGrp="1"/>
          </p:cNvSpPr>
          <p:nvPr>
            <p:ph type="ftr" idx="11"/>
          </p:nvPr>
        </p:nvSpPr>
        <p:spPr>
          <a:xfrm>
            <a:off x="3124200" y="6356349"/>
            <a:ext cx="28956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ctr"/>
            <a:endParaRPr lang="zh-CN" altLang="en-US" sz="1200">
              <a:solidFill>
                <a:srgbClr val="898989"/>
              </a:solidFill>
              <a:latin typeface="Calibri" charset="0"/>
              <a:ea typeface="宋体" charset="0"/>
              <a:cs typeface="Calibri" charset="0"/>
            </a:endParaRPr>
          </a:p>
        </p:txBody>
      </p:sp>
      <p:sp>
        <p:nvSpPr>
          <p:cNvPr id="9" name="Text box"/>
          <p:cNvSpPr>
            <a:spLocks noGrp="1"/>
          </p:cNvSpPr>
          <p:nvPr>
            <p:ph type="sldNum" idx="12"/>
          </p:nvPr>
        </p:nvSpPr>
        <p:spPr>
          <a:xfrm>
            <a:off x="6553200" y="6356349"/>
            <a:ext cx="2133600" cy="365125"/>
          </a:xfrm>
          <a:prstGeom prst="rect">
            <a:avLst/>
          </a:prstGeom>
          <a:noFill/>
          <a:ln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rgbClr val="898989"/>
                </a:solidFill>
                <a:latin typeface="Calibri" charset="0"/>
                <a:ea typeface="宋体" charset="0"/>
                <a:cs typeface="Calibri" charset="0"/>
              </a:rPr>
              <a:pPr algn="r"/>
              <a:t>‹#›</a:t>
            </a:fld>
            <a:endParaRPr lang="zh-CN" altLang="en-US" sz="1200">
              <a:solidFill>
                <a:srgbClr val="898989"/>
              </a:solidFill>
              <a:latin typeface="Calibri" charset="0"/>
              <a:ea typeface="宋体" charset="0"/>
              <a:cs typeface="Calibri" charset="0"/>
            </a:endParaRPr>
          </a:p>
        </p:txBody>
      </p:sp>
    </p:spTree>
    <p:extLst>
      <p:ext uri="{BB962C8B-B14F-4D97-AF65-F5344CB8AC3E}">
        <p14:creationId xmlns:p14="http://schemas.microsoft.com/office/powerpoint/2010/main" val="1593532417"/>
      </p:ext>
    </p:extLst>
  </p:cSld>
  <p:clrMapOvr>
    <a:masterClrMapping/>
  </p:clrMapOvr>
  <p:hf sldNu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title"/>
          </p:nvPr>
        </p:nvSpPr>
        <p:spPr>
          <a:xfrm>
            <a:off x="457200" y="274638"/>
            <a:ext cx="8229600" cy="1143000"/>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r>
              <a:rPr lang="en-US" altLang="zh-CN"/>
              <a:t>Click to edit Master title style</a:t>
            </a:r>
            <a:endParaRPr lang="zh-CN" altLang="en-US"/>
          </a:p>
        </p:txBody>
      </p:sp>
      <p:sp>
        <p:nvSpPr>
          <p:cNvPr id="3" name="Text box"/>
          <p:cNvSpPr>
            <a:spLocks noGrp="1"/>
          </p:cNvSpPr>
          <p:nvPr>
            <p:ph type="body" idx="1"/>
          </p:nvPr>
        </p:nvSpPr>
        <p:spPr>
          <a:xfrm>
            <a:off x="457200" y="1600200"/>
            <a:ext cx="8229600" cy="4525963"/>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box"/>
          <p:cNvSpPr>
            <a:spLocks noGrp="1"/>
          </p:cNvSpPr>
          <p:nvPr>
            <p:ph type="dt" idx="2"/>
          </p:nvPr>
        </p:nvSpPr>
        <p:spPr>
          <a:xfrm>
            <a:off x="457200" y="6356349"/>
            <a:ext cx="21336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l"/>
            <a:fld id="{CAD2D6BD-DE1B-4B5F-8B41-2702339687B9}" type="datetime1">
              <a:rPr lang="en-US" altLang="zh-CN" sz="1200">
                <a:solidFill>
                  <a:srgbClr val="898989"/>
                </a:solidFill>
                <a:latin typeface="Calibri" charset="0"/>
                <a:ea typeface="宋体" charset="0"/>
                <a:cs typeface="Calibri" charset="0"/>
              </a:rPr>
              <a:pPr algn="l"/>
              <a:t>7/26/2026</a:t>
            </a:fld>
            <a:endParaRPr lang="zh-CN" altLang="en-US" sz="1200">
              <a:solidFill>
                <a:srgbClr val="898989"/>
              </a:solidFill>
              <a:latin typeface="Calibri" charset="0"/>
              <a:ea typeface="宋体" charset="0"/>
              <a:cs typeface="Calibri" charset="0"/>
            </a:endParaRPr>
          </a:p>
        </p:txBody>
      </p:sp>
      <p:sp>
        <p:nvSpPr>
          <p:cNvPr id="5" name="Text box"/>
          <p:cNvSpPr>
            <a:spLocks noGrp="1"/>
          </p:cNvSpPr>
          <p:nvPr>
            <p:ph type="ftr" idx="3"/>
          </p:nvPr>
        </p:nvSpPr>
        <p:spPr>
          <a:xfrm>
            <a:off x="3124200" y="6356349"/>
            <a:ext cx="28956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a:endParaRPr lang="zh-CN" altLang="en-US" sz="1200">
              <a:solidFill>
                <a:srgbClr val="898989"/>
              </a:solidFill>
              <a:latin typeface="Calibri" charset="0"/>
              <a:ea typeface="宋体" charset="0"/>
              <a:cs typeface="Calibri" charset="0"/>
            </a:endParaRPr>
          </a:p>
        </p:txBody>
      </p:sp>
      <p:sp>
        <p:nvSpPr>
          <p:cNvPr id="6" name="Text box"/>
          <p:cNvSpPr>
            <a:spLocks noGrp="1"/>
          </p:cNvSpPr>
          <p:nvPr>
            <p:ph type="sldNum" idx="4"/>
          </p:nvPr>
        </p:nvSpPr>
        <p:spPr>
          <a:xfrm>
            <a:off x="6553200" y="6356349"/>
            <a:ext cx="21336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rgbClr val="898989"/>
                </a:solidFill>
                <a:latin typeface="Calibri" charset="0"/>
                <a:ea typeface="宋体" charset="0"/>
                <a:cs typeface="Calibri" charset="0"/>
              </a:rPr>
              <a:pPr algn="r"/>
              <a:t>‹#›</a:t>
            </a:fld>
            <a:endParaRPr lang="zh-CN" altLang="en-US" sz="1200">
              <a:solidFill>
                <a:srgbClr val="898989"/>
              </a:solidFill>
              <a:latin typeface="Calibri" charset="0"/>
              <a:ea typeface="宋体" charset="0"/>
              <a:cs typeface="Calibri" charset="0"/>
            </a:endParaRPr>
          </a:p>
        </p:txBody>
      </p:sp>
    </p:spTree>
    <p:extLst>
      <p:ext uri="{BB962C8B-B14F-4D97-AF65-F5344CB8AC3E}">
        <p14:creationId xmlns:p14="http://schemas.microsoft.com/office/powerpoint/2010/main" val="46818340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lvl1pPr algn="ctr" defTabSz="914400" eaLnBrk="1" fontAlgn="auto" latinLnBrk="0" hangingPunct="1">
        <a:spcBef>
          <a:spcPts val="0"/>
        </a:spcBef>
        <a:buNone/>
        <a:defRPr sz="4400" kern="1200">
          <a:solidFill>
            <a:schemeClr val="tx1"/>
          </a:solidFill>
          <a:latin typeface="Calibri" charset="0"/>
          <a:ea typeface="宋体" charset="0"/>
          <a:cs typeface="Calibri" charset="0"/>
        </a:defRPr>
      </a:lvl1pPr>
    </p:titleStyle>
    <p:bodyStyle>
      <a:lvl1pPr marL="342900" indent="-342900" algn="l" defTabSz="914400" eaLnBrk="1" fontAlgn="auto" latinLnBrk="0" hangingPunct="1">
        <a:spcBef>
          <a:spcPct val="20000"/>
        </a:spcBef>
        <a:buFont typeface="Arial" pitchFamily="34" charset="0"/>
        <a:buChar char="•"/>
        <a:defRPr sz="3200" kern="1200">
          <a:solidFill>
            <a:schemeClr val="tx1"/>
          </a:solidFill>
          <a:latin typeface="Calibri" charset="0"/>
          <a:ea typeface="宋体" charset="0"/>
          <a:cs typeface="Calibri" charset="0"/>
        </a:defRPr>
      </a:lvl1pPr>
      <a:lvl2pPr marL="742950" indent="-285750" algn="l" defTabSz="914400" eaLnBrk="1" fontAlgn="auto" latinLnBrk="0" hangingPunct="1">
        <a:spcBef>
          <a:spcPct val="20000"/>
        </a:spcBef>
        <a:buFont typeface="Arial" pitchFamily="34" charset="0"/>
        <a:buChar char="–"/>
        <a:defRPr sz="2800" kern="1200">
          <a:solidFill>
            <a:schemeClr val="tx1"/>
          </a:solidFill>
          <a:latin typeface="Calibri" charset="0"/>
          <a:ea typeface="宋体" charset="0"/>
          <a:cs typeface="Calibri" charset="0"/>
        </a:defRPr>
      </a:lvl2pPr>
      <a:lvl3pPr marL="1143000" indent="-228600" algn="l" defTabSz="914400" eaLnBrk="1" fontAlgn="auto" latinLnBrk="0" hangingPunct="1">
        <a:spcBef>
          <a:spcPct val="20000"/>
        </a:spcBef>
        <a:buFont typeface="Arial" pitchFamily="34" charset="0"/>
        <a:buChar char="•"/>
        <a:defRPr sz="2400" kern="1200">
          <a:solidFill>
            <a:schemeClr val="tx1"/>
          </a:solidFill>
          <a:latin typeface="Calibri" charset="0"/>
          <a:ea typeface="宋体" charset="0"/>
          <a:cs typeface="Calibri" charset="0"/>
        </a:defRPr>
      </a:lvl3pPr>
      <a:lvl4pPr marL="16002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宋体" charset="0"/>
          <a:cs typeface="Calibri" charset="0"/>
        </a:defRPr>
      </a:lvl4pPr>
      <a:lvl5pPr marL="20574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宋体" charset="0"/>
          <a:cs typeface="Calibri" charset="0"/>
        </a:defRPr>
      </a:lvl5pPr>
      <a:lvl6pPr marL="25146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宋体" charset="0"/>
          <a:cs typeface="Calibri" charset="0"/>
        </a:defRPr>
      </a:lvl6pPr>
      <a:lvl7pPr marL="29718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宋体" charset="0"/>
          <a:cs typeface="Calibri" charset="0"/>
        </a:defRPr>
      </a:lvl7pPr>
      <a:lvl8pPr marL="34290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宋体" charset="0"/>
          <a:cs typeface="Calibri" charset="0"/>
        </a:defRPr>
      </a:lvl8pPr>
      <a:lvl9pPr marL="3429000" indent="-228600" algn="l" defTabSz="914400" eaLnBrk="1" fontAlgn="auto" latinLnBrk="0" hangingPunct="1">
        <a:spcBef>
          <a:spcPct val="20000"/>
        </a:spcBef>
        <a:buFont typeface="Arial" pitchFamily="34" charset="0"/>
        <a:buChar char="•"/>
        <a:defRPr sz="2000" kern="1200">
          <a:solidFill>
            <a:schemeClr val="tx1"/>
          </a:solidFill>
          <a:latin typeface="Calibri" charset="0"/>
          <a:ea typeface="宋体" charset="0"/>
          <a:cs typeface="Calibri" charset="0"/>
        </a:defRPr>
      </a:lvl9pPr>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2.xml"/><Relationship Id="rId5" Type="http://schemas.openxmlformats.org/officeDocument/2006/relationships/image" Target="../media/image14.jpeg"/><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hyperlink" Target="https://www.osha.gov/" TargetMode="External"/><Relationship Id="rId5" Type="http://schemas.openxmlformats.org/officeDocument/2006/relationships/hyperlink" Target="https://www.nfpa.org/" TargetMode="External"/><Relationship Id="rId4" Type="http://schemas.openxmlformats.org/officeDocument/2006/relationships/hyperlink" Target="https://www.arduino.cc/"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曲线"/>
          <p:cNvSpPr>
            <a:spLocks/>
          </p:cNvSpPr>
          <p:nvPr/>
        </p:nvSpPr>
        <p:spPr>
          <a:xfrm>
            <a:off x="134413" y="301973"/>
            <a:ext cx="3264162" cy="126012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599"/>
                </a:lnTo>
                <a:lnTo>
                  <a:pt x="0" y="21599"/>
                </a:lnTo>
                <a:lnTo>
                  <a:pt x="0" y="0"/>
                </a:lnTo>
                <a:close/>
              </a:path>
            </a:pathLst>
          </a:custGeom>
          <a:blipFill rotWithShape="1">
            <a:blip r:embed="rId2" cstate="print"/>
            <a:stretch/>
          </a:blipFill>
          <a:ln cap="flat" cmpd="sng">
            <a:noFill/>
            <a:prstDash val="solid"/>
            <a:miter/>
          </a:ln>
        </p:spPr>
      </p:sp>
      <p:sp>
        <p:nvSpPr>
          <p:cNvPr id="11" name="Straight line"/>
          <p:cNvSpPr>
            <a:spLocks/>
          </p:cNvSpPr>
          <p:nvPr/>
        </p:nvSpPr>
        <p:spPr>
          <a:xfrm flipV="1">
            <a:off x="158994" y="2124489"/>
            <a:ext cx="17865820" cy="0"/>
          </a:xfrm>
          <a:prstGeom prst="line">
            <a:avLst/>
          </a:prstGeom>
          <a:noFill/>
          <a:ln w="38100" cap="flat" cmpd="sng">
            <a:solidFill>
              <a:srgbClr val="000000"/>
            </a:solidFill>
            <a:prstDash val="solid"/>
            <a:round/>
          </a:ln>
        </p:spPr>
      </p:sp>
      <p:pic>
        <p:nvPicPr>
          <p:cNvPr id="12" name="Image"/>
          <p:cNvPicPr>
            <a:picLocks noChangeAspect="1"/>
          </p:cNvPicPr>
          <p:nvPr/>
        </p:nvPicPr>
        <p:blipFill>
          <a:blip r:embed="rId3" cstate="print"/>
          <a:stretch>
            <a:fillRect/>
          </a:stretch>
        </p:blipFill>
        <p:spPr>
          <a:xfrm>
            <a:off x="16139160" y="34788"/>
            <a:ext cx="2148839" cy="2069426"/>
          </a:xfrm>
          <a:prstGeom prst="rect">
            <a:avLst/>
          </a:prstGeom>
          <a:noFill/>
          <a:ln w="12700" cap="flat" cmpd="sng">
            <a:noFill/>
            <a:prstDash val="solid"/>
            <a:miter/>
          </a:ln>
        </p:spPr>
      </p:pic>
      <p:sp>
        <p:nvSpPr>
          <p:cNvPr id="13" name="Rectangle"/>
          <p:cNvSpPr>
            <a:spLocks/>
          </p:cNvSpPr>
          <p:nvPr/>
        </p:nvSpPr>
        <p:spPr>
          <a:xfrm>
            <a:off x="286770" y="2911190"/>
            <a:ext cx="10009390" cy="553997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endParaRPr lang="en-US" altLang="zh-CN" sz="1800" b="0" i="0" u="none" strike="noStrike" kern="1200" cap="none" spc="0" baseline="0" dirty="0">
              <a:solidFill>
                <a:schemeClr val="tx1"/>
              </a:solidFill>
              <a:latin typeface="Calibri" charset="0"/>
              <a:ea typeface="宋体" charset="0"/>
              <a:cs typeface="Calibri" charset="0"/>
            </a:endParaRPr>
          </a:p>
          <a:p>
            <a:pPr marL="285750" indent="-285750" algn="just">
              <a:lnSpc>
                <a:spcPct val="200000"/>
              </a:lnSpc>
              <a:spcBef>
                <a:spcPts val="0"/>
              </a:spcBef>
              <a:spcAft>
                <a:spcPts val="0"/>
              </a:spcAft>
              <a:buFont typeface="Arial" pitchFamily="34" charset="0"/>
              <a:buChar char="•"/>
            </a:pPr>
            <a:r>
              <a:rPr lang="en-US" altLang="zh-CN" sz="2800" b="1" i="0" u="none" strike="noStrike" kern="1200" cap="none" spc="0" baseline="0" dirty="0">
                <a:solidFill>
                  <a:schemeClr val="tx1"/>
                </a:solidFill>
                <a:latin typeface="Arial" pitchFamily="34" charset="0"/>
                <a:ea typeface="宋体" charset="0"/>
                <a:cs typeface="Arial" pitchFamily="34" charset="0"/>
              </a:rPr>
              <a:t>Problem Statement Title-Smart</a:t>
            </a:r>
            <a:r>
              <a:rPr lang="en-US" altLang="zh-CN" sz="2800" b="1" i="0" u="none" strike="noStrike" kern="1200" cap="none" spc="0" dirty="0">
                <a:solidFill>
                  <a:schemeClr val="tx1"/>
                </a:solidFill>
                <a:latin typeface="Arial" pitchFamily="34" charset="0"/>
                <a:ea typeface="宋体" charset="0"/>
                <a:cs typeface="Arial" pitchFamily="34" charset="0"/>
              </a:rPr>
              <a:t>  Gas Leakage Sensor</a:t>
            </a:r>
            <a:endParaRPr lang="en-US" altLang="zh-CN" sz="2800" b="1" i="0" u="none" strike="noStrike" kern="1200" cap="none" spc="0" baseline="0" dirty="0">
              <a:solidFill>
                <a:schemeClr val="tx1"/>
              </a:solidFill>
              <a:latin typeface="+mj-lt"/>
              <a:ea typeface="宋体" charset="0"/>
              <a:cs typeface="Arial" pitchFamily="34" charset="0"/>
            </a:endParaRPr>
          </a:p>
          <a:p>
            <a:pPr marL="285750" indent="-285750" algn="just">
              <a:lnSpc>
                <a:spcPct val="200000"/>
              </a:lnSpc>
              <a:spcBef>
                <a:spcPts val="0"/>
              </a:spcBef>
              <a:spcAft>
                <a:spcPts val="0"/>
              </a:spcAft>
              <a:buFont typeface="Arial" pitchFamily="34" charset="0"/>
              <a:buChar char="•"/>
            </a:pPr>
            <a:r>
              <a:rPr lang="en-US" altLang="zh-CN" sz="2800" b="1" i="0" u="none" strike="noStrike" kern="1200" cap="none" spc="0" baseline="0" dirty="0">
                <a:solidFill>
                  <a:schemeClr val="tx1"/>
                </a:solidFill>
                <a:latin typeface="Arial" pitchFamily="34" charset="0"/>
                <a:ea typeface="宋体" charset="0"/>
                <a:cs typeface="Arial" pitchFamily="34" charset="0"/>
              </a:rPr>
              <a:t>Theme- </a:t>
            </a:r>
            <a:r>
              <a:rPr lang="en-US" altLang="zh-CN" sz="2800" b="1" i="0" u="none" strike="noStrike" kern="1200" cap="none" spc="0" baseline="0" dirty="0" err="1">
                <a:solidFill>
                  <a:schemeClr val="tx1"/>
                </a:solidFill>
                <a:latin typeface="Arial" pitchFamily="34" charset="0"/>
                <a:ea typeface="宋体" charset="0"/>
                <a:cs typeface="Arial" pitchFamily="34" charset="0"/>
              </a:rPr>
              <a:t>MedTech</a:t>
            </a:r>
            <a:r>
              <a:rPr lang="en-US" altLang="zh-CN" sz="2800" b="1" i="0" u="none" strike="noStrike" kern="1200" cap="none" spc="0" baseline="0" dirty="0">
                <a:solidFill>
                  <a:schemeClr val="tx1"/>
                </a:solidFill>
                <a:latin typeface="Arial" pitchFamily="34" charset="0"/>
                <a:ea typeface="宋体" charset="0"/>
                <a:cs typeface="Arial" pitchFamily="34" charset="0"/>
              </a:rPr>
              <a:t>/</a:t>
            </a:r>
            <a:r>
              <a:rPr lang="en-US" altLang="zh-CN" sz="2800" b="1" i="0" u="none" strike="noStrike" kern="1200" cap="none" spc="0" baseline="0" dirty="0" err="1">
                <a:solidFill>
                  <a:schemeClr val="tx1"/>
                </a:solidFill>
                <a:latin typeface="Arial" pitchFamily="34" charset="0"/>
                <a:ea typeface="宋体" charset="0"/>
                <a:cs typeface="Arial" pitchFamily="34" charset="0"/>
              </a:rPr>
              <a:t>BioTech</a:t>
            </a:r>
            <a:r>
              <a:rPr lang="en-US" altLang="zh-CN" sz="2800" b="1" i="0" u="none" strike="noStrike" kern="1200" cap="none" spc="0" baseline="0" dirty="0">
                <a:solidFill>
                  <a:schemeClr val="tx1"/>
                </a:solidFill>
                <a:latin typeface="Arial" pitchFamily="34" charset="0"/>
                <a:ea typeface="宋体" charset="0"/>
                <a:cs typeface="Arial" pitchFamily="34" charset="0"/>
              </a:rPr>
              <a:t>/</a:t>
            </a:r>
            <a:r>
              <a:rPr lang="en-US" altLang="zh-CN" sz="2800" b="1" i="0" u="none" strike="noStrike" kern="1200" cap="none" spc="0" baseline="0" dirty="0" err="1">
                <a:solidFill>
                  <a:schemeClr val="tx1"/>
                </a:solidFill>
                <a:latin typeface="Arial" pitchFamily="34" charset="0"/>
                <a:ea typeface="宋体" charset="0"/>
                <a:cs typeface="Arial" pitchFamily="34" charset="0"/>
              </a:rPr>
              <a:t>HealthTech</a:t>
            </a:r>
            <a:endParaRPr lang="en-US" altLang="zh-CN" sz="2800" b="1" i="0" u="none" strike="noStrike" kern="1200" cap="none" spc="0" baseline="0" dirty="0">
              <a:solidFill>
                <a:schemeClr val="tx1"/>
              </a:solidFill>
              <a:latin typeface="Arial" pitchFamily="34" charset="0"/>
              <a:ea typeface="宋体" charset="0"/>
              <a:cs typeface="Arial" pitchFamily="34" charset="0"/>
            </a:endParaRPr>
          </a:p>
          <a:p>
            <a:pPr marL="285750" indent="-285750" algn="just">
              <a:lnSpc>
                <a:spcPct val="200000"/>
              </a:lnSpc>
              <a:spcBef>
                <a:spcPts val="0"/>
              </a:spcBef>
              <a:spcAft>
                <a:spcPts val="0"/>
              </a:spcAft>
              <a:buFont typeface="Arial" pitchFamily="34" charset="0"/>
              <a:buChar char="•"/>
            </a:pPr>
            <a:r>
              <a:rPr lang="en-US" altLang="zh-CN" sz="2800" b="1" i="0" u="none" strike="noStrike" kern="1200" cap="none" spc="0" baseline="0" dirty="0">
                <a:solidFill>
                  <a:schemeClr val="tx1"/>
                </a:solidFill>
                <a:latin typeface="Arial" pitchFamily="34" charset="0"/>
                <a:ea typeface="宋体" charset="0"/>
                <a:cs typeface="Arial" pitchFamily="34" charset="0"/>
              </a:rPr>
              <a:t>PS Category-Hardware</a:t>
            </a:r>
          </a:p>
          <a:p>
            <a:pPr marL="285750" indent="-285750" algn="just">
              <a:lnSpc>
                <a:spcPct val="200000"/>
              </a:lnSpc>
              <a:spcBef>
                <a:spcPts val="0"/>
              </a:spcBef>
              <a:spcAft>
                <a:spcPts val="0"/>
              </a:spcAft>
              <a:buFont typeface="Arial" pitchFamily="34" charset="0"/>
              <a:buChar char="•"/>
            </a:pPr>
            <a:r>
              <a:rPr lang="en-US" altLang="zh-CN" sz="2800" b="1" i="0" u="none" strike="noStrike" kern="1200" cap="none" spc="0" baseline="0" dirty="0">
                <a:solidFill>
                  <a:schemeClr val="tx1"/>
                </a:solidFill>
                <a:latin typeface="Arial" pitchFamily="34" charset="0"/>
                <a:ea typeface="宋体" charset="0"/>
                <a:cs typeface="Arial" pitchFamily="34" charset="0"/>
              </a:rPr>
              <a:t>Team ID- 55</a:t>
            </a:r>
          </a:p>
          <a:p>
            <a:pPr marL="285750" indent="-285750" algn="just">
              <a:lnSpc>
                <a:spcPct val="200000"/>
              </a:lnSpc>
              <a:spcBef>
                <a:spcPts val="0"/>
              </a:spcBef>
              <a:spcAft>
                <a:spcPts val="0"/>
              </a:spcAft>
              <a:buFont typeface="Arial" pitchFamily="34" charset="0"/>
              <a:buChar char="•"/>
            </a:pPr>
            <a:r>
              <a:rPr lang="en-US" altLang="zh-CN" sz="2800" b="1" i="0" u="none" strike="noStrike" kern="1200" cap="none" spc="0" baseline="0" dirty="0">
                <a:solidFill>
                  <a:schemeClr val="tx1"/>
                </a:solidFill>
                <a:latin typeface="Arial" pitchFamily="34" charset="0"/>
                <a:ea typeface="宋体" charset="0"/>
                <a:cs typeface="Arial" pitchFamily="34" charset="0"/>
              </a:rPr>
              <a:t>Team Name – IDEATEX</a:t>
            </a:r>
          </a:p>
          <a:p>
            <a:pPr marL="285750" indent="-285750" algn="just">
              <a:lnSpc>
                <a:spcPct val="200000"/>
              </a:lnSpc>
              <a:spcBef>
                <a:spcPts val="0"/>
              </a:spcBef>
              <a:spcAft>
                <a:spcPts val="0"/>
              </a:spcAft>
              <a:buFont typeface="Arial" pitchFamily="34" charset="0"/>
              <a:buChar char="•"/>
            </a:pPr>
            <a:r>
              <a:rPr lang="en-US" altLang="zh-CN" sz="2800" b="1" i="0" u="none" strike="noStrike" kern="1200" cap="none" spc="0" baseline="0" dirty="0">
                <a:solidFill>
                  <a:schemeClr val="tx1"/>
                </a:solidFill>
                <a:latin typeface="Arial" pitchFamily="34" charset="0"/>
                <a:ea typeface="宋体" charset="0"/>
                <a:cs typeface="Arial" pitchFamily="34" charset="0"/>
              </a:rPr>
              <a:t>Team Member- 6</a:t>
            </a:r>
            <a:endParaRPr lang="zh-CN" altLang="en-US" sz="2800" b="1" i="0" u="none" strike="noStrike" kern="1200" cap="none" spc="0" baseline="0" dirty="0">
              <a:solidFill>
                <a:schemeClr val="tx1"/>
              </a:solidFill>
              <a:latin typeface="Arial" pitchFamily="34" charset="0"/>
              <a:ea typeface="宋体" charset="0"/>
              <a:cs typeface="Arial" pitchFamily="34" charset="0"/>
            </a:endParaRPr>
          </a:p>
        </p:txBody>
      </p:sp>
      <p:sp>
        <p:nvSpPr>
          <p:cNvPr id="14" name="Rectangle"/>
          <p:cNvSpPr>
            <a:spLocks/>
          </p:cNvSpPr>
          <p:nvPr/>
        </p:nvSpPr>
        <p:spPr>
          <a:xfrm>
            <a:off x="3962400" y="346226"/>
            <a:ext cx="10668000" cy="142494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ctr">
              <a:lnSpc>
                <a:spcPct val="100000"/>
              </a:lnSpc>
              <a:spcBef>
                <a:spcPts val="0"/>
              </a:spcBef>
              <a:spcAft>
                <a:spcPts val="0"/>
              </a:spcAft>
              <a:buNone/>
            </a:pPr>
            <a:r>
              <a:rPr lang="en-US" altLang="zh-CN" sz="4400" b="1" i="0" u="none" strike="noStrike" kern="1200" cap="none" spc="0" baseline="0">
                <a:solidFill>
                  <a:srgbClr val="77933C"/>
                </a:solidFill>
                <a:latin typeface="Aptos Display" pitchFamily="34" charset="0"/>
                <a:ea typeface="宋体" charset="0"/>
                <a:cs typeface="Calibri" charset="0"/>
              </a:rPr>
              <a:t>INNOVATION AND DESIGN THINKING LAB(1BIDTL158)</a:t>
            </a:r>
            <a:endParaRPr lang="zh-CN" altLang="en-US" sz="4400" b="1" i="0" u="none" strike="noStrike" kern="1200" cap="none" spc="0" baseline="0">
              <a:solidFill>
                <a:srgbClr val="77933C"/>
              </a:solidFill>
              <a:latin typeface="Aptos Display" pitchFamily="34" charset="0"/>
              <a:ea typeface="宋体" charset="0"/>
              <a:cs typeface="Calibri" charset="0"/>
            </a:endParaRPr>
          </a:p>
        </p:txBody>
      </p:sp>
      <p:sp>
        <p:nvSpPr>
          <p:cNvPr id="15" name="Rectangle"/>
          <p:cNvSpPr>
            <a:spLocks/>
          </p:cNvSpPr>
          <p:nvPr/>
        </p:nvSpPr>
        <p:spPr>
          <a:xfrm>
            <a:off x="7543800" y="7658100"/>
            <a:ext cx="3124200" cy="22631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charset="0"/>
                <a:ea typeface="宋体" charset="0"/>
                <a:cs typeface="Calibri" charset="0"/>
              </a:rPr>
              <a:t>ANU RAKESH PATIL</a:t>
            </a: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charset="0"/>
                <a:ea typeface="宋体" charset="0"/>
                <a:cs typeface="Calibri" charset="0"/>
              </a:rPr>
              <a:t>BHAGYA</a:t>
            </a: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charset="0"/>
                <a:ea typeface="宋体" charset="0"/>
                <a:cs typeface="Calibri" charset="0"/>
              </a:rPr>
              <a:t>BHAVANA  M V</a:t>
            </a: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charset="0"/>
                <a:ea typeface="宋体" charset="0"/>
                <a:cs typeface="Calibri" charset="0"/>
              </a:rPr>
              <a:t>BHUVAN REDDY</a:t>
            </a: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charset="0"/>
                <a:ea typeface="宋体" charset="0"/>
                <a:cs typeface="Calibri" charset="0"/>
              </a:rPr>
              <a:t>DHARSHAN R</a:t>
            </a:r>
          </a:p>
          <a:p>
            <a:pPr marL="0" indent="0" algn="l">
              <a:lnSpc>
                <a:spcPct val="100000"/>
              </a:lnSpc>
              <a:spcBef>
                <a:spcPts val="0"/>
              </a:spcBef>
              <a:spcAft>
                <a:spcPts val="0"/>
              </a:spcAft>
              <a:buNone/>
            </a:pPr>
            <a:r>
              <a:rPr lang="en-US" altLang="zh-CN" sz="2400" b="0" i="0" u="none" strike="noStrike" kern="1200" cap="none" spc="0" baseline="0" dirty="0">
                <a:solidFill>
                  <a:schemeClr val="tx1"/>
                </a:solidFill>
                <a:latin typeface="Calibri" charset="0"/>
                <a:ea typeface="宋体" charset="0"/>
                <a:cs typeface="Calibri" charset="0"/>
              </a:rPr>
              <a:t>HARSHITHA .A</a:t>
            </a:r>
            <a:endParaRPr lang="zh-CN" altLang="en-US" sz="2400" b="0" i="0" u="none" strike="noStrike" kern="1200" cap="none" spc="0" baseline="0" dirty="0">
              <a:solidFill>
                <a:schemeClr val="tx1"/>
              </a:solidFill>
              <a:latin typeface="Calibri" charset="0"/>
              <a:ea typeface="宋体" charset="0"/>
              <a:cs typeface="Calibri" charset="0"/>
            </a:endParaRPr>
          </a:p>
        </p:txBody>
      </p:sp>
      <p:sp>
        <p:nvSpPr>
          <p:cNvPr id="16" name="Rectangle"/>
          <p:cNvSpPr>
            <a:spLocks/>
          </p:cNvSpPr>
          <p:nvPr/>
        </p:nvSpPr>
        <p:spPr>
          <a:xfrm>
            <a:off x="6248400" y="7048500"/>
            <a:ext cx="2987421" cy="520065"/>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800" b="0" i="0" u="none" strike="noStrike" kern="1200" cap="none" spc="0" baseline="0">
                <a:solidFill>
                  <a:schemeClr val="tx1"/>
                </a:solidFill>
                <a:latin typeface="Calibri" charset="0"/>
                <a:ea typeface="宋体" charset="0"/>
                <a:cs typeface="Calibri" charset="0"/>
              </a:rPr>
              <a:t>TEAM MEMBERS:</a:t>
            </a:r>
            <a:endParaRPr lang="zh-CN" altLang="en-US" sz="2800" b="0" i="0" u="none" strike="noStrike" kern="1200" cap="none" spc="0" baseline="0">
              <a:solidFill>
                <a:schemeClr val="tx1"/>
              </a:solidFill>
              <a:latin typeface="Calibri" charset="0"/>
              <a:ea typeface="宋体" charset="0"/>
              <a:cs typeface="Calibri" charset="0"/>
            </a:endParaRPr>
          </a:p>
        </p:txBody>
      </p:sp>
      <p:pic>
        <p:nvPicPr>
          <p:cNvPr id="18" name="Picture 17" descr="i.png"/>
          <p:cNvPicPr>
            <a:picLocks noChangeAspect="1"/>
          </p:cNvPicPr>
          <p:nvPr/>
        </p:nvPicPr>
        <p:blipFill>
          <a:blip r:embed="rId4" cstate="print"/>
          <a:stretch>
            <a:fillRect/>
          </a:stretch>
        </p:blipFill>
        <p:spPr>
          <a:xfrm>
            <a:off x="10152140" y="2263100"/>
            <a:ext cx="7921100" cy="8023900"/>
          </a:xfrm>
          <a:prstGeom prst="rect">
            <a:avLst/>
          </a:prstGeom>
        </p:spPr>
      </p:pic>
    </p:spTree>
    <p:extLst>
      <p:ext uri="{BB962C8B-B14F-4D97-AF65-F5344CB8AC3E}">
        <p14:creationId xmlns:p14="http://schemas.microsoft.com/office/powerpoint/2010/main" val="1132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Straight line"/>
          <p:cNvSpPr>
            <a:spLocks/>
          </p:cNvSpPr>
          <p:nvPr/>
        </p:nvSpPr>
        <p:spPr>
          <a:xfrm flipV="1">
            <a:off x="15239" y="2019300"/>
            <a:ext cx="17865820" cy="0"/>
          </a:xfrm>
          <a:prstGeom prst="line">
            <a:avLst/>
          </a:prstGeom>
          <a:noFill/>
          <a:ln w="38100" cap="flat" cmpd="sng">
            <a:solidFill>
              <a:srgbClr val="000000"/>
            </a:solidFill>
            <a:prstDash val="solid"/>
            <a:round/>
          </a:ln>
        </p:spPr>
      </p:sp>
      <p:pic>
        <p:nvPicPr>
          <p:cNvPr id="19" name="Image"/>
          <p:cNvPicPr>
            <a:picLocks noChangeAspect="1"/>
          </p:cNvPicPr>
          <p:nvPr/>
        </p:nvPicPr>
        <p:blipFill>
          <a:blip r:embed="rId2" cstate="print"/>
          <a:stretch>
            <a:fillRect/>
          </a:stretch>
        </p:blipFill>
        <p:spPr>
          <a:xfrm>
            <a:off x="16916400" y="8966090"/>
            <a:ext cx="1371600" cy="1320910"/>
          </a:xfrm>
          <a:prstGeom prst="rect">
            <a:avLst/>
          </a:prstGeom>
          <a:noFill/>
          <a:ln w="12700" cap="flat" cmpd="sng">
            <a:noFill/>
            <a:prstDash val="solid"/>
            <a:miter/>
          </a:ln>
        </p:spPr>
      </p:pic>
      <p:sp>
        <p:nvSpPr>
          <p:cNvPr id="20" name="Rectangle"/>
          <p:cNvSpPr>
            <a:spLocks/>
          </p:cNvSpPr>
          <p:nvPr/>
        </p:nvSpPr>
        <p:spPr>
          <a:xfrm>
            <a:off x="3429000" y="647699"/>
            <a:ext cx="10972800" cy="11430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eaLnBrk="1" latinLnBrk="0" hangingPunct="1">
              <a:lnSpc>
                <a:spcPct val="100000"/>
              </a:lnSpc>
              <a:spcBef>
                <a:spcPts val="0"/>
              </a:spcBef>
              <a:spcAft>
                <a:spcPts val="0"/>
              </a:spcAft>
              <a:buNone/>
            </a:pPr>
            <a:r>
              <a:rPr lang="en-US" altLang="zh-CN" sz="4400" b="1" i="0" u="none" strike="noStrike" kern="1200" cap="none" spc="0" baseline="0">
                <a:solidFill>
                  <a:schemeClr val="tx1"/>
                </a:solidFill>
                <a:latin typeface="Times New Roman" pitchFamily="18" charset="0"/>
                <a:ea typeface="ＭＳ Ｐゴシック" pitchFamily="1" charset="-128"/>
                <a:cs typeface="Times New Roman" pitchFamily="18" charset="0"/>
              </a:rPr>
              <a:t>PROPOSED SOLUTION</a:t>
            </a:r>
            <a:endParaRPr lang="zh-CN" altLang="en-US" sz="44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21" name="Oval" descr="Your startup LOGO"/>
          <p:cNvSpPr>
            <a:spLocks/>
          </p:cNvSpPr>
          <p:nvPr/>
        </p:nvSpPr>
        <p:spPr>
          <a:xfrm>
            <a:off x="558374" y="369830"/>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22" name="曲线"/>
          <p:cNvSpPr>
            <a:spLocks/>
          </p:cNvSpPr>
          <p:nvPr/>
        </p:nvSpPr>
        <p:spPr>
          <a:xfrm>
            <a:off x="152400" y="9182100"/>
            <a:ext cx="2337225" cy="906054"/>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3" cstate="print"/>
            <a:stretch/>
          </a:blipFill>
          <a:ln cap="flat" cmpd="sng">
            <a:noFill/>
            <a:prstDash val="solid"/>
            <a:miter/>
          </a:ln>
        </p:spPr>
      </p:sp>
      <p:grpSp>
        <p:nvGrpSpPr>
          <p:cNvPr id="24" name="Combination"/>
          <p:cNvGrpSpPr>
            <a:grpSpLocks/>
          </p:cNvGrpSpPr>
          <p:nvPr/>
        </p:nvGrpSpPr>
        <p:grpSpPr>
          <a:xfrm>
            <a:off x="1981200" y="2476500"/>
            <a:ext cx="1050512" cy="1263776"/>
            <a:chOff x="1981200" y="2476500"/>
            <a:chExt cx="1050512" cy="1263776"/>
          </a:xfrm>
        </p:grpSpPr>
        <p:sp>
          <p:nvSpPr>
            <p:cNvPr id="23" name="曲线"/>
            <p:cNvSpPr>
              <a:spLocks/>
            </p:cNvSpPr>
            <p:nvPr/>
          </p:nvSpPr>
          <p:spPr>
            <a:xfrm>
              <a:off x="1981200" y="2476500"/>
              <a:ext cx="1050512" cy="1263776"/>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4" cstate="print"/>
              <a:stretch>
                <a:fillRect t="-58" b="-57"/>
              </a:stretch>
            </a:blipFill>
            <a:ln cap="flat" cmpd="sng">
              <a:noFill/>
              <a:prstDash val="solid"/>
              <a:miter/>
            </a:ln>
          </p:spPr>
        </p:sp>
      </p:grpSp>
      <p:sp>
        <p:nvSpPr>
          <p:cNvPr id="25" name="Rectangle"/>
          <p:cNvSpPr>
            <a:spLocks/>
          </p:cNvSpPr>
          <p:nvPr/>
        </p:nvSpPr>
        <p:spPr>
          <a:xfrm>
            <a:off x="7848599" y="3924299"/>
            <a:ext cx="184731" cy="369332"/>
          </a:xfrm>
          <a:prstGeom prst="rect">
            <a:avLst/>
          </a:prstGeom>
          <a:noFill/>
          <a:ln w="12700" cap="flat" cmpd="sng">
            <a:noFill/>
            <a:prstDash val="solid"/>
            <a:miter/>
          </a:ln>
        </p:spPr>
      </p:sp>
      <p:grpSp>
        <p:nvGrpSpPr>
          <p:cNvPr id="27" name="Combination"/>
          <p:cNvGrpSpPr>
            <a:grpSpLocks/>
          </p:cNvGrpSpPr>
          <p:nvPr/>
        </p:nvGrpSpPr>
        <p:grpSpPr>
          <a:xfrm>
            <a:off x="8001000" y="2324100"/>
            <a:ext cx="1483614" cy="1537429"/>
            <a:chOff x="8001000" y="2324100"/>
            <a:chExt cx="1483614" cy="1537429"/>
          </a:xfrm>
        </p:grpSpPr>
        <p:sp>
          <p:nvSpPr>
            <p:cNvPr id="26" name="曲线"/>
            <p:cNvSpPr>
              <a:spLocks/>
            </p:cNvSpPr>
            <p:nvPr/>
          </p:nvSpPr>
          <p:spPr>
            <a:xfrm>
              <a:off x="8001000" y="2324100"/>
              <a:ext cx="1483614" cy="1537429"/>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5" cstate="print"/>
              <a:stretch>
                <a:fillRect t="-23" b="-22"/>
              </a:stretch>
            </a:blipFill>
            <a:ln cap="flat" cmpd="sng">
              <a:noFill/>
              <a:prstDash val="solid"/>
              <a:miter/>
            </a:ln>
          </p:spPr>
        </p:sp>
      </p:grpSp>
      <p:grpSp>
        <p:nvGrpSpPr>
          <p:cNvPr id="29" name="Combination"/>
          <p:cNvGrpSpPr>
            <a:grpSpLocks/>
          </p:cNvGrpSpPr>
          <p:nvPr/>
        </p:nvGrpSpPr>
        <p:grpSpPr>
          <a:xfrm>
            <a:off x="14554200" y="2171700"/>
            <a:ext cx="811339" cy="1759076"/>
            <a:chOff x="14554200" y="2171700"/>
            <a:chExt cx="811339" cy="1759076"/>
          </a:xfrm>
        </p:grpSpPr>
        <p:sp>
          <p:nvSpPr>
            <p:cNvPr id="28" name="曲线"/>
            <p:cNvSpPr>
              <a:spLocks/>
            </p:cNvSpPr>
            <p:nvPr/>
          </p:nvSpPr>
          <p:spPr>
            <a:xfrm>
              <a:off x="14554200" y="2171700"/>
              <a:ext cx="811339" cy="1759076"/>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6" cstate="print"/>
              <a:stretch>
                <a:fillRect l="-3" r="-8"/>
              </a:stretch>
            </a:blipFill>
            <a:ln cap="flat" cmpd="sng">
              <a:noFill/>
              <a:prstDash val="solid"/>
              <a:miter/>
            </a:ln>
          </p:spPr>
        </p:sp>
      </p:grpSp>
      <p:sp>
        <p:nvSpPr>
          <p:cNvPr id="30" name="Straight line"/>
          <p:cNvSpPr>
            <a:spLocks/>
          </p:cNvSpPr>
          <p:nvPr/>
        </p:nvSpPr>
        <p:spPr>
          <a:xfrm>
            <a:off x="5791200" y="2095500"/>
            <a:ext cx="0" cy="8191499"/>
          </a:xfrm>
          <a:prstGeom prst="line">
            <a:avLst/>
          </a:prstGeom>
          <a:noFill/>
          <a:ln w="9525" cap="flat" cmpd="sng">
            <a:solidFill>
              <a:srgbClr val="4A7EBB"/>
            </a:solidFill>
            <a:prstDash val="solid"/>
            <a:round/>
          </a:ln>
        </p:spPr>
      </p:sp>
      <p:sp>
        <p:nvSpPr>
          <p:cNvPr id="31" name="Straight line"/>
          <p:cNvSpPr>
            <a:spLocks/>
          </p:cNvSpPr>
          <p:nvPr/>
        </p:nvSpPr>
        <p:spPr>
          <a:xfrm>
            <a:off x="11811000" y="2095500"/>
            <a:ext cx="76200" cy="8191499"/>
          </a:xfrm>
          <a:prstGeom prst="line">
            <a:avLst/>
          </a:prstGeom>
          <a:noFill/>
          <a:ln w="9525" cap="flat" cmpd="sng">
            <a:solidFill>
              <a:srgbClr val="4A7EBB"/>
            </a:solidFill>
            <a:prstDash val="solid"/>
            <a:round/>
          </a:ln>
        </p:spPr>
      </p:sp>
      <p:sp>
        <p:nvSpPr>
          <p:cNvPr id="32" name="Rectangle"/>
          <p:cNvSpPr>
            <a:spLocks/>
          </p:cNvSpPr>
          <p:nvPr/>
        </p:nvSpPr>
        <p:spPr>
          <a:xfrm>
            <a:off x="1600200" y="4305300"/>
            <a:ext cx="1576196"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charset="0"/>
                <a:ea typeface="宋体" charset="0"/>
                <a:cs typeface="Calibri" charset="0"/>
              </a:rPr>
              <a:t>PROBLEM</a:t>
            </a:r>
            <a:endParaRPr lang="zh-CN" altLang="en-US" sz="2400" b="0" i="0" u="none" strike="noStrike" kern="1200" cap="none" spc="0" baseline="0">
              <a:solidFill>
                <a:schemeClr val="tx1"/>
              </a:solidFill>
              <a:latin typeface="Calibri" charset="0"/>
              <a:ea typeface="宋体" charset="0"/>
              <a:cs typeface="Calibri" charset="0"/>
            </a:endParaRPr>
          </a:p>
        </p:txBody>
      </p:sp>
      <p:sp>
        <p:nvSpPr>
          <p:cNvPr id="33" name="Rectangle"/>
          <p:cNvSpPr>
            <a:spLocks/>
          </p:cNvSpPr>
          <p:nvPr/>
        </p:nvSpPr>
        <p:spPr>
          <a:xfrm>
            <a:off x="7924800" y="4305300"/>
            <a:ext cx="1643252"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charset="0"/>
                <a:ea typeface="宋体" charset="0"/>
                <a:cs typeface="Calibri" charset="0"/>
              </a:rPr>
              <a:t>SOLUTION</a:t>
            </a:r>
            <a:endParaRPr lang="zh-CN" altLang="en-US" sz="2400" b="0" i="0" u="none" strike="noStrike" kern="1200" cap="none" spc="0" baseline="0">
              <a:solidFill>
                <a:schemeClr val="tx1"/>
              </a:solidFill>
              <a:latin typeface="Calibri" charset="0"/>
              <a:ea typeface="宋体" charset="0"/>
              <a:cs typeface="Calibri" charset="0"/>
            </a:endParaRPr>
          </a:p>
        </p:txBody>
      </p:sp>
      <p:sp>
        <p:nvSpPr>
          <p:cNvPr id="34" name="Rectangle"/>
          <p:cNvSpPr>
            <a:spLocks/>
          </p:cNvSpPr>
          <p:nvPr/>
        </p:nvSpPr>
        <p:spPr>
          <a:xfrm>
            <a:off x="13563600" y="4305300"/>
            <a:ext cx="2795396" cy="4533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Calibri" charset="0"/>
                <a:ea typeface="宋体" charset="0"/>
                <a:cs typeface="Calibri" charset="0"/>
              </a:rPr>
              <a:t>WHY IT MATTERS?</a:t>
            </a:r>
            <a:endParaRPr lang="zh-CN" altLang="en-US" sz="2400" b="0" i="0" u="none" strike="noStrike" kern="1200" cap="none" spc="0" baseline="0">
              <a:solidFill>
                <a:schemeClr val="tx1"/>
              </a:solidFill>
              <a:latin typeface="Calibri" charset="0"/>
              <a:ea typeface="宋体" charset="0"/>
              <a:cs typeface="Calibri" charset="0"/>
            </a:endParaRPr>
          </a:p>
        </p:txBody>
      </p:sp>
      <p:sp>
        <p:nvSpPr>
          <p:cNvPr id="35" name="Rectangle"/>
          <p:cNvSpPr>
            <a:spLocks/>
          </p:cNvSpPr>
          <p:nvPr/>
        </p:nvSpPr>
        <p:spPr>
          <a:xfrm>
            <a:off x="304800" y="4838700"/>
            <a:ext cx="4876800" cy="101566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Gas leakage from LPG cylinders and pipelines can lead to fire accidents, explosions, and health hazards.</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36" name="Rectangle"/>
          <p:cNvSpPr>
            <a:spLocks/>
          </p:cNvSpPr>
          <p:nvPr/>
        </p:nvSpPr>
        <p:spPr>
          <a:xfrm>
            <a:off x="304800" y="5981700"/>
            <a:ext cx="4724400"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dirty="0"/>
              <a:t>Many households and industries cannot detect gas leaks immediately.</a:t>
            </a:r>
            <a:endParaRPr lang="zh-CN" altLang="en-US" sz="1800" b="0" i="0" u="none" strike="noStrike" kern="1200" cap="none" spc="0" baseline="0" dirty="0">
              <a:solidFill>
                <a:schemeClr val="tx1"/>
              </a:solidFill>
              <a:latin typeface="Calibri" charset="0"/>
              <a:ea typeface="宋体" charset="0"/>
              <a:cs typeface="Calibri" charset="0"/>
            </a:endParaRPr>
          </a:p>
        </p:txBody>
      </p:sp>
      <p:sp>
        <p:nvSpPr>
          <p:cNvPr id="37" name="Rectangle"/>
          <p:cNvSpPr>
            <a:spLocks/>
          </p:cNvSpPr>
          <p:nvPr/>
        </p:nvSpPr>
        <p:spPr>
          <a:xfrm>
            <a:off x="358780" y="6871740"/>
            <a:ext cx="4572000" cy="70788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Existing safety measures often rely on human observation, causing delays.</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38" name="Rectangle"/>
          <p:cNvSpPr>
            <a:spLocks/>
          </p:cNvSpPr>
          <p:nvPr/>
        </p:nvSpPr>
        <p:spPr>
          <a:xfrm>
            <a:off x="358780" y="7807870"/>
            <a:ext cx="4495800" cy="101566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Lack of an early warning system increases the risk of property damage and loss of life.</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39" name="Rectangle"/>
          <p:cNvSpPr>
            <a:spLocks/>
          </p:cNvSpPr>
          <p:nvPr/>
        </p:nvSpPr>
        <p:spPr>
          <a:xfrm>
            <a:off x="6172200" y="4838700"/>
            <a:ext cx="5029200" cy="101566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Develop a Smart Gas Leakage Sensor using an MQ-series gas sensor and microcontroller.</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40" name="Rectangle"/>
          <p:cNvSpPr>
            <a:spLocks/>
          </p:cNvSpPr>
          <p:nvPr/>
        </p:nvSpPr>
        <p:spPr>
          <a:xfrm>
            <a:off x="6172200" y="5981700"/>
            <a:ext cx="4495800" cy="101566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Continuously monitor the concentration of LPG and combustible gases.</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41" name="Rectangle"/>
          <p:cNvSpPr>
            <a:spLocks/>
          </p:cNvSpPr>
          <p:nvPr/>
        </p:nvSpPr>
        <p:spPr>
          <a:xfrm>
            <a:off x="6172200" y="7048500"/>
            <a:ext cx="4419600" cy="70788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Detect gas leaks instantly when gas levels exceed the safe threshold.</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42" name="Rectangle"/>
          <p:cNvSpPr>
            <a:spLocks/>
          </p:cNvSpPr>
          <p:nvPr/>
        </p:nvSpPr>
        <p:spPr>
          <a:xfrm>
            <a:off x="6191590" y="7951890"/>
            <a:ext cx="4343400" cy="70788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Activate a buzzer and LED alert system for immediate warning.</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43" name="Rectangle"/>
          <p:cNvSpPr>
            <a:spLocks/>
          </p:cNvSpPr>
          <p:nvPr/>
        </p:nvSpPr>
        <p:spPr>
          <a:xfrm>
            <a:off x="12268201" y="4991100"/>
            <a:ext cx="4343400" cy="70788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Prevents fire accidents and explosions.</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44" name="Rectangle"/>
          <p:cNvSpPr>
            <a:spLocks/>
          </p:cNvSpPr>
          <p:nvPr/>
        </p:nvSpPr>
        <p:spPr>
          <a:xfrm>
            <a:off x="12268201" y="5905500"/>
            <a:ext cx="4495800"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Protects human life and property.</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45" name="Rectangle"/>
          <p:cNvSpPr>
            <a:spLocks/>
          </p:cNvSpPr>
          <p:nvPr/>
        </p:nvSpPr>
        <p:spPr>
          <a:xfrm>
            <a:off x="12168420" y="6439680"/>
            <a:ext cx="4495800" cy="70788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Provides early detection of hazardous gas leaks.</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46" name="Rectangle"/>
          <p:cNvSpPr>
            <a:spLocks/>
          </p:cNvSpPr>
          <p:nvPr/>
        </p:nvSpPr>
        <p:spPr>
          <a:xfrm>
            <a:off x="12240430" y="7519830"/>
            <a:ext cx="4792710" cy="163121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Improves safety in homes, industries, laboratories, and commercial kitchens.</a:t>
            </a:r>
          </a:p>
          <a:p>
            <a:r>
              <a:rPr lang="en-US" sz="2000" dirty="0"/>
              <a:t>Offers a low-cost and reliable safety solution.</a:t>
            </a:r>
          </a:p>
          <a:p>
            <a:pPr marL="0" indent="0" algn="l">
              <a:lnSpc>
                <a:spcPct val="100000"/>
              </a:lnSpc>
              <a:spcBef>
                <a:spcPts val="0"/>
              </a:spcBef>
              <a:spcAft>
                <a:spcPts val="0"/>
              </a:spcAft>
              <a:buNone/>
            </a:pPr>
            <a:endParaRPr lang="zh-CN" altLang="en-US" sz="2000" b="0" i="0" u="none" strike="noStrike" kern="1200" cap="none" spc="0" baseline="0" dirty="0">
              <a:solidFill>
                <a:schemeClr val="tx1"/>
              </a:solidFill>
              <a:latin typeface="Calibri" charset="0"/>
              <a:ea typeface="宋体" charset="0"/>
              <a:cs typeface="Calibri" charset="0"/>
            </a:endParaRPr>
          </a:p>
        </p:txBody>
      </p:sp>
    </p:spTree>
    <p:extLst>
      <p:ext uri="{BB962C8B-B14F-4D97-AF65-F5344CB8AC3E}">
        <p14:creationId xmlns:p14="http://schemas.microsoft.com/office/powerpoint/2010/main" val="2065062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Straight line"/>
          <p:cNvSpPr>
            <a:spLocks/>
          </p:cNvSpPr>
          <p:nvPr/>
        </p:nvSpPr>
        <p:spPr>
          <a:xfrm flipV="1">
            <a:off x="15239" y="2019300"/>
            <a:ext cx="17865820" cy="0"/>
          </a:xfrm>
          <a:prstGeom prst="line">
            <a:avLst/>
          </a:prstGeom>
          <a:noFill/>
          <a:ln w="38100" cap="flat" cmpd="sng">
            <a:solidFill>
              <a:srgbClr val="000000"/>
            </a:solidFill>
            <a:prstDash val="solid"/>
            <a:round/>
          </a:ln>
        </p:spPr>
      </p:sp>
      <p:pic>
        <p:nvPicPr>
          <p:cNvPr id="48" name="Image"/>
          <p:cNvPicPr>
            <a:picLocks noChangeAspect="1"/>
          </p:cNvPicPr>
          <p:nvPr/>
        </p:nvPicPr>
        <p:blipFill>
          <a:blip r:embed="rId2" cstate="print"/>
          <a:stretch>
            <a:fillRect/>
          </a:stretch>
        </p:blipFill>
        <p:spPr>
          <a:xfrm>
            <a:off x="16916400" y="8966090"/>
            <a:ext cx="1371600" cy="1320910"/>
          </a:xfrm>
          <a:prstGeom prst="rect">
            <a:avLst/>
          </a:prstGeom>
          <a:noFill/>
          <a:ln w="12700" cap="flat" cmpd="sng">
            <a:noFill/>
            <a:prstDash val="solid"/>
            <a:miter/>
          </a:ln>
        </p:spPr>
      </p:pic>
      <p:sp>
        <p:nvSpPr>
          <p:cNvPr id="49" name="曲线"/>
          <p:cNvSpPr>
            <a:spLocks/>
          </p:cNvSpPr>
          <p:nvPr/>
        </p:nvSpPr>
        <p:spPr>
          <a:xfrm>
            <a:off x="152400" y="9182100"/>
            <a:ext cx="2337225" cy="906054"/>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3" cstate="print"/>
            <a:stretch/>
          </a:blipFill>
          <a:ln cap="flat" cmpd="sng">
            <a:noFill/>
            <a:prstDash val="solid"/>
            <a:miter/>
          </a:ln>
        </p:spPr>
      </p:sp>
      <p:sp>
        <p:nvSpPr>
          <p:cNvPr id="50" name="Rectangle"/>
          <p:cNvSpPr>
            <a:spLocks/>
          </p:cNvSpPr>
          <p:nvPr/>
        </p:nvSpPr>
        <p:spPr>
          <a:xfrm>
            <a:off x="3429000" y="647699"/>
            <a:ext cx="10972800" cy="11430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eaLnBrk="1" latinLnBrk="0" hangingPunct="1">
              <a:lnSpc>
                <a:spcPct val="100000"/>
              </a:lnSpc>
              <a:spcBef>
                <a:spcPts val="0"/>
              </a:spcBef>
              <a:spcAft>
                <a:spcPts val="0"/>
              </a:spcAft>
              <a:buNone/>
            </a:pPr>
            <a:r>
              <a:rPr lang="en-US" altLang="zh-CN" sz="4400" b="1" i="0" u="none" strike="noStrike" kern="1200" cap="none" spc="-282" baseline="0">
                <a:solidFill>
                  <a:srgbClr val="4A7576"/>
                </a:solidFill>
                <a:latin typeface="Open Sauce Bold" charset="0"/>
                <a:ea typeface="Open Sauce Bold" charset="0"/>
                <a:cs typeface="Open Sauce Bold" charset="0"/>
                <a:sym typeface="Open Sauce Bold" charset="0"/>
              </a:rPr>
              <a:t>METHODOLOGY AND  IMPLEMENTATION</a:t>
            </a:r>
          </a:p>
          <a:p>
            <a:pPr marL="0" indent="0" algn="ctr" eaLnBrk="1" latinLnBrk="0" hangingPunct="1">
              <a:lnSpc>
                <a:spcPct val="100000"/>
              </a:lnSpc>
              <a:spcBef>
                <a:spcPts val="0"/>
              </a:spcBef>
              <a:spcAft>
                <a:spcPts val="0"/>
              </a:spcAft>
              <a:buNone/>
            </a:pPr>
            <a:endParaRPr lang="zh-CN" altLang="en-US" sz="36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51" name="Oval" descr="Your startup LOGO"/>
          <p:cNvSpPr>
            <a:spLocks/>
          </p:cNvSpPr>
          <p:nvPr/>
        </p:nvSpPr>
        <p:spPr>
          <a:xfrm>
            <a:off x="838200" y="349791"/>
            <a:ext cx="1251856"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52" name="曲线"/>
          <p:cNvSpPr>
            <a:spLocks/>
          </p:cNvSpPr>
          <p:nvPr/>
        </p:nvSpPr>
        <p:spPr>
          <a:xfrm>
            <a:off x="0" y="5008834"/>
            <a:ext cx="7086599" cy="1723876"/>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4" cstate="print"/>
            <a:stretch/>
          </a:blipFill>
          <a:ln cap="flat" cmpd="sng">
            <a:noFill/>
            <a:prstDash val="solid"/>
            <a:miter/>
          </a:ln>
        </p:spPr>
      </p:sp>
      <p:sp>
        <p:nvSpPr>
          <p:cNvPr id="53" name="曲线"/>
          <p:cNvSpPr>
            <a:spLocks/>
          </p:cNvSpPr>
          <p:nvPr/>
        </p:nvSpPr>
        <p:spPr>
          <a:xfrm>
            <a:off x="6113535" y="5005103"/>
            <a:ext cx="4021064" cy="1723876"/>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5" cstate="print"/>
            <a:stretch/>
          </a:blipFill>
          <a:ln cap="flat" cmpd="sng">
            <a:noFill/>
            <a:prstDash val="solid"/>
            <a:miter/>
          </a:ln>
        </p:spPr>
      </p:sp>
      <p:sp>
        <p:nvSpPr>
          <p:cNvPr id="54" name="曲线"/>
          <p:cNvSpPr>
            <a:spLocks/>
          </p:cNvSpPr>
          <p:nvPr/>
        </p:nvSpPr>
        <p:spPr>
          <a:xfrm>
            <a:off x="9358036" y="5005103"/>
            <a:ext cx="3748362" cy="1723876"/>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6" cstate="print"/>
            <a:stretch/>
          </a:blipFill>
          <a:ln cap="flat" cmpd="sng">
            <a:noFill/>
            <a:prstDash val="solid"/>
            <a:miter/>
          </a:ln>
        </p:spPr>
      </p:sp>
      <p:sp>
        <p:nvSpPr>
          <p:cNvPr id="55" name="曲线"/>
          <p:cNvSpPr>
            <a:spLocks/>
          </p:cNvSpPr>
          <p:nvPr/>
        </p:nvSpPr>
        <p:spPr>
          <a:xfrm>
            <a:off x="12239120" y="4991100"/>
            <a:ext cx="6048880" cy="1723876"/>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7" cstate="print"/>
            <a:stretch/>
          </a:blipFill>
          <a:ln cap="flat" cmpd="sng">
            <a:noFill/>
            <a:prstDash val="solid"/>
            <a:miter/>
          </a:ln>
        </p:spPr>
      </p:sp>
      <p:sp>
        <p:nvSpPr>
          <p:cNvPr id="56" name="Rectangle"/>
          <p:cNvSpPr>
            <a:spLocks/>
          </p:cNvSpPr>
          <p:nvPr/>
        </p:nvSpPr>
        <p:spPr>
          <a:xfrm>
            <a:off x="1418796" y="5541873"/>
            <a:ext cx="3839003" cy="566420"/>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marL="0" indent="0" algn="l">
              <a:lnSpc>
                <a:spcPts val="4460"/>
              </a:lnSpc>
              <a:spcBef>
                <a:spcPts val="0"/>
              </a:spcBef>
              <a:spcAft>
                <a:spcPts val="0"/>
              </a:spcAft>
              <a:buNone/>
            </a:pPr>
            <a:r>
              <a:rPr lang="en-US" altLang="zh-CN" sz="3600" b="1" i="0" u="none" strike="noStrike" kern="1200" cap="none" spc="0" baseline="0">
                <a:solidFill>
                  <a:srgbClr val="331B0D"/>
                </a:solidFill>
                <a:latin typeface="Open Sauce Bold" charset="0"/>
                <a:ea typeface="Open Sauce Bold" charset="0"/>
                <a:cs typeface="Open Sauce Bold" charset="0"/>
                <a:sym typeface="Open Sauce Bold" charset="0"/>
              </a:rPr>
              <a:t>Brainstorm </a:t>
            </a:r>
            <a:endParaRPr lang="zh-CN" altLang="en-US" sz="3600" b="1" i="0" u="none" strike="noStrike" kern="1200" cap="none" spc="0" baseline="0">
              <a:solidFill>
                <a:srgbClr val="331B0D"/>
              </a:solidFill>
              <a:latin typeface="Open Sauce Bold" charset="0"/>
              <a:ea typeface="Open Sauce Bold" charset="0"/>
              <a:cs typeface="Open Sauce Bold" charset="0"/>
              <a:sym typeface="Open Sauce Bold" charset="0"/>
            </a:endParaRPr>
          </a:p>
        </p:txBody>
      </p:sp>
      <p:sp>
        <p:nvSpPr>
          <p:cNvPr id="57" name="Rectangle"/>
          <p:cNvSpPr>
            <a:spLocks/>
          </p:cNvSpPr>
          <p:nvPr/>
        </p:nvSpPr>
        <p:spPr>
          <a:xfrm>
            <a:off x="7346785" y="5333085"/>
            <a:ext cx="2077950" cy="1080008"/>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marL="0" indent="0" algn="l">
              <a:lnSpc>
                <a:spcPts val="4252"/>
              </a:lnSpc>
              <a:spcBef>
                <a:spcPts val="0"/>
              </a:spcBef>
              <a:spcAft>
                <a:spcPts val="0"/>
              </a:spcAft>
              <a:buNone/>
            </a:pPr>
            <a:r>
              <a:rPr lang="en-US" altLang="zh-CN" sz="3200" b="1" i="0" u="none" strike="noStrike" kern="1200" cap="none" spc="0" baseline="0">
                <a:solidFill>
                  <a:srgbClr val="331B0D"/>
                </a:solidFill>
                <a:latin typeface="Open Sauce Bold" charset="0"/>
                <a:ea typeface="Open Sauce Bold" charset="0"/>
                <a:cs typeface="Open Sauce Bold" charset="0"/>
                <a:sym typeface="Open Sauce Bold" charset="0"/>
              </a:rPr>
              <a:t>User Feedback</a:t>
            </a:r>
            <a:endParaRPr lang="zh-CN" altLang="en-US" sz="3200" b="1" i="0" u="none" strike="noStrike" kern="1200" cap="none" spc="0" baseline="0">
              <a:solidFill>
                <a:srgbClr val="331B0D"/>
              </a:solidFill>
              <a:latin typeface="Open Sauce Bold" charset="0"/>
              <a:ea typeface="Open Sauce Bold" charset="0"/>
              <a:cs typeface="Open Sauce Bold" charset="0"/>
              <a:sym typeface="Open Sauce Bold" charset="0"/>
            </a:endParaRPr>
          </a:p>
        </p:txBody>
      </p:sp>
      <p:sp>
        <p:nvSpPr>
          <p:cNvPr id="58" name="Rectangle"/>
          <p:cNvSpPr>
            <a:spLocks/>
          </p:cNvSpPr>
          <p:nvPr/>
        </p:nvSpPr>
        <p:spPr>
          <a:xfrm>
            <a:off x="10120522" y="5344601"/>
            <a:ext cx="2007985" cy="1043686"/>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marL="0" indent="0" algn="l">
              <a:lnSpc>
                <a:spcPts val="4109"/>
              </a:lnSpc>
              <a:spcBef>
                <a:spcPts val="0"/>
              </a:spcBef>
              <a:spcAft>
                <a:spcPts val="0"/>
              </a:spcAft>
              <a:buNone/>
            </a:pPr>
            <a:r>
              <a:rPr lang="en-US" altLang="zh-CN" sz="2800" b="1" i="0" u="none" strike="noStrike" kern="1200" cap="none" spc="0" baseline="0">
                <a:solidFill>
                  <a:srgbClr val="331B0D"/>
                </a:solidFill>
                <a:latin typeface="Open Sauce Bold" charset="0"/>
                <a:ea typeface="Open Sauce Bold" charset="0"/>
                <a:cs typeface="Open Sauce Bold" charset="0"/>
                <a:sym typeface="Open Sauce Bold" charset="0"/>
              </a:rPr>
              <a:t>Concept Refinement</a:t>
            </a:r>
            <a:endParaRPr lang="zh-CN" altLang="en-US" sz="2800" b="1" i="0" u="none" strike="noStrike" kern="1200" cap="none" spc="0" baseline="0">
              <a:solidFill>
                <a:srgbClr val="331B0D"/>
              </a:solidFill>
              <a:latin typeface="Open Sauce Bold" charset="0"/>
              <a:ea typeface="Open Sauce Bold" charset="0"/>
              <a:cs typeface="Open Sauce Bold" charset="0"/>
              <a:sym typeface="Open Sauce Bold" charset="0"/>
            </a:endParaRPr>
          </a:p>
        </p:txBody>
      </p:sp>
      <p:sp>
        <p:nvSpPr>
          <p:cNvPr id="59" name="Rectangle"/>
          <p:cNvSpPr>
            <a:spLocks/>
          </p:cNvSpPr>
          <p:nvPr/>
        </p:nvSpPr>
        <p:spPr>
          <a:xfrm>
            <a:off x="14146540" y="5517699"/>
            <a:ext cx="3684011" cy="623061"/>
          </a:xfrm>
          <a:prstGeom prst="rect">
            <a:avLst/>
          </a:prstGeom>
          <a:noFill/>
          <a:ln w="12700" cap="flat" cmpd="sng">
            <a:noFill/>
            <a:prstDash val="solid"/>
            <a:miter/>
          </a:ln>
        </p:spPr>
        <p:txBody>
          <a:bodyPr vert="horz" wrap="square" lIns="0" tIns="0" rIns="0" bIns="0" anchor="t" anchorCtr="0">
            <a:prstTxWarp prst="textNoShape">
              <a:avLst/>
            </a:prstTxWarp>
            <a:spAutoFit/>
          </a:bodyPr>
          <a:lstStyle/>
          <a:p>
            <a:pPr marL="0" indent="0" algn="l">
              <a:lnSpc>
                <a:spcPts val="4906"/>
              </a:lnSpc>
              <a:spcBef>
                <a:spcPts val="0"/>
              </a:spcBef>
              <a:spcAft>
                <a:spcPts val="0"/>
              </a:spcAft>
              <a:buNone/>
            </a:pPr>
            <a:r>
              <a:rPr lang="en-US" altLang="zh-CN" sz="3600" b="1" i="0" u="none" strike="noStrike" kern="1200" cap="none" spc="0" baseline="0">
                <a:solidFill>
                  <a:srgbClr val="331B0D"/>
                </a:solidFill>
                <a:latin typeface="Open Sauce Bold" charset="0"/>
                <a:ea typeface="Open Sauce Bold" charset="0"/>
                <a:cs typeface="Open Sauce Bold" charset="0"/>
                <a:sym typeface="Open Sauce Bold" charset="0"/>
              </a:rPr>
              <a:t>Final Idea </a:t>
            </a:r>
            <a:endParaRPr lang="zh-CN" altLang="en-US" sz="3600" b="1" i="0" u="none" strike="noStrike" kern="1200" cap="none" spc="0" baseline="0">
              <a:solidFill>
                <a:srgbClr val="331B0D"/>
              </a:solidFill>
              <a:latin typeface="Open Sauce Bold" charset="0"/>
              <a:ea typeface="Open Sauce Bold" charset="0"/>
              <a:cs typeface="Open Sauce Bold" charset="0"/>
              <a:sym typeface="Open Sauce Bold" charset="0"/>
            </a:endParaRPr>
          </a:p>
        </p:txBody>
      </p:sp>
      <p:sp>
        <p:nvSpPr>
          <p:cNvPr id="60" name="Straight line"/>
          <p:cNvSpPr>
            <a:spLocks/>
          </p:cNvSpPr>
          <p:nvPr/>
        </p:nvSpPr>
        <p:spPr>
          <a:xfrm>
            <a:off x="8458200" y="6667499"/>
            <a:ext cx="0" cy="457200"/>
          </a:xfrm>
          <a:prstGeom prst="line">
            <a:avLst/>
          </a:prstGeom>
          <a:noFill/>
          <a:ln w="9525" cap="flat" cmpd="sng">
            <a:solidFill>
              <a:srgbClr val="000000"/>
            </a:solidFill>
            <a:prstDash val="solid"/>
            <a:round/>
          </a:ln>
        </p:spPr>
      </p:sp>
      <p:sp>
        <p:nvSpPr>
          <p:cNvPr id="61" name="Straight line"/>
          <p:cNvSpPr>
            <a:spLocks/>
          </p:cNvSpPr>
          <p:nvPr/>
        </p:nvSpPr>
        <p:spPr>
          <a:xfrm flipV="1">
            <a:off x="2667000" y="4533900"/>
            <a:ext cx="0" cy="685799"/>
          </a:xfrm>
          <a:prstGeom prst="line">
            <a:avLst/>
          </a:prstGeom>
          <a:noFill/>
          <a:ln w="9525" cap="flat" cmpd="sng">
            <a:solidFill>
              <a:srgbClr val="000000"/>
            </a:solidFill>
            <a:prstDash val="solid"/>
            <a:round/>
          </a:ln>
        </p:spPr>
      </p:sp>
      <p:sp>
        <p:nvSpPr>
          <p:cNvPr id="62" name="Straight line"/>
          <p:cNvSpPr>
            <a:spLocks/>
          </p:cNvSpPr>
          <p:nvPr/>
        </p:nvSpPr>
        <p:spPr>
          <a:xfrm flipV="1">
            <a:off x="10972800" y="4686300"/>
            <a:ext cx="0" cy="533399"/>
          </a:xfrm>
          <a:prstGeom prst="line">
            <a:avLst/>
          </a:prstGeom>
          <a:noFill/>
          <a:ln w="9525" cap="flat" cmpd="sng">
            <a:solidFill>
              <a:srgbClr val="000000"/>
            </a:solidFill>
            <a:prstDash val="solid"/>
            <a:round/>
          </a:ln>
        </p:spPr>
      </p:sp>
      <p:sp>
        <p:nvSpPr>
          <p:cNvPr id="63" name="Straight line"/>
          <p:cNvSpPr>
            <a:spLocks/>
          </p:cNvSpPr>
          <p:nvPr/>
        </p:nvSpPr>
        <p:spPr>
          <a:xfrm>
            <a:off x="15544800" y="6743700"/>
            <a:ext cx="0" cy="457200"/>
          </a:xfrm>
          <a:prstGeom prst="line">
            <a:avLst/>
          </a:prstGeom>
          <a:noFill/>
          <a:ln w="9525" cap="flat" cmpd="sng">
            <a:solidFill>
              <a:srgbClr val="000000"/>
            </a:solidFill>
            <a:prstDash val="solid"/>
            <a:round/>
          </a:ln>
        </p:spPr>
      </p:sp>
      <p:sp>
        <p:nvSpPr>
          <p:cNvPr id="64" name="Rectangle"/>
          <p:cNvSpPr>
            <a:spLocks/>
          </p:cNvSpPr>
          <p:nvPr/>
        </p:nvSpPr>
        <p:spPr>
          <a:xfrm>
            <a:off x="718830" y="2191090"/>
            <a:ext cx="6480900" cy="341632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400" dirty="0">
                <a:latin typeface="Arial" pitchFamily="34" charset="0"/>
                <a:cs typeface="Arial" pitchFamily="34" charset="0"/>
              </a:rPr>
              <a:t>Our initial idea was to create a hardware-based safety device that:</a:t>
            </a:r>
          </a:p>
          <a:p>
            <a:r>
              <a:rPr lang="en-US" sz="2400" dirty="0">
                <a:latin typeface="Arial" pitchFamily="34" charset="0"/>
                <a:cs typeface="Arial" pitchFamily="34" charset="0"/>
              </a:rPr>
              <a:t>Detects LPG gas leakage instantly.</a:t>
            </a:r>
          </a:p>
          <a:p>
            <a:r>
              <a:rPr lang="en-US" sz="2400" dirty="0">
                <a:latin typeface="Arial" pitchFamily="34" charset="0"/>
                <a:cs typeface="Arial" pitchFamily="34" charset="0"/>
              </a:rPr>
              <a:t>Alerts users through sound and light indicators.</a:t>
            </a:r>
          </a:p>
          <a:p>
            <a:r>
              <a:rPr lang="en-US" sz="2400" dirty="0">
                <a:latin typeface="Arial" pitchFamily="34" charset="0"/>
                <a:cs typeface="Arial" pitchFamily="34" charset="0"/>
              </a:rPr>
              <a:t>Operates continuously with minimal maintenance.</a:t>
            </a:r>
          </a:p>
          <a:p>
            <a:r>
              <a:rPr lang="en-US" sz="2400" dirty="0">
                <a:latin typeface="Arial" pitchFamily="34" charset="0"/>
                <a:cs typeface="Arial" pitchFamily="34" charset="0"/>
              </a:rPr>
              <a:t>Is affordable and easy to install.</a:t>
            </a:r>
          </a:p>
          <a:p>
            <a:pPr marL="0" indent="0" algn="l">
              <a:lnSpc>
                <a:spcPct val="100000"/>
              </a:lnSpc>
              <a:spcBef>
                <a:spcPts val="0"/>
              </a:spcBef>
              <a:spcAft>
                <a:spcPts val="0"/>
              </a:spcAft>
              <a:buNone/>
            </a:pPr>
            <a:endParaRPr lang="zh-CN" altLang="en-US" sz="2400" b="0" i="0" u="none" strike="noStrike" kern="1200" cap="none" spc="0" baseline="0" dirty="0">
              <a:solidFill>
                <a:schemeClr val="tx1"/>
              </a:solidFill>
              <a:latin typeface="Arial" pitchFamily="34" charset="0"/>
              <a:cs typeface="Arial" pitchFamily="34" charset="0"/>
            </a:endParaRPr>
          </a:p>
        </p:txBody>
      </p:sp>
      <p:sp>
        <p:nvSpPr>
          <p:cNvPr id="65" name="Rectangle"/>
          <p:cNvSpPr>
            <a:spLocks/>
          </p:cNvSpPr>
          <p:nvPr/>
        </p:nvSpPr>
        <p:spPr>
          <a:xfrm>
            <a:off x="1006870" y="7159780"/>
            <a:ext cx="9443611" cy="230832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r>
              <a:rPr lang="en-US" sz="2400" dirty="0">
                <a:latin typeface="Arial" pitchFamily="34" charset="0"/>
                <a:cs typeface="Arial" pitchFamily="34" charset="0"/>
              </a:rPr>
              <a:t>After discussing with users and observing common safety concerns:</a:t>
            </a:r>
          </a:p>
          <a:p>
            <a:r>
              <a:rPr lang="en-US" sz="2400" dirty="0">
                <a:latin typeface="Arial" pitchFamily="34" charset="0"/>
                <a:cs typeface="Arial" pitchFamily="34" charset="0"/>
              </a:rPr>
              <a:t>Many people cannot detect gas leaks at an early stage.</a:t>
            </a:r>
          </a:p>
          <a:p>
            <a:r>
              <a:rPr lang="en-US" sz="2400" dirty="0">
                <a:latin typeface="Arial" pitchFamily="34" charset="0"/>
                <a:cs typeface="Arial" pitchFamily="34" charset="0"/>
              </a:rPr>
              <a:t>Gas leakage accidents often occur due to delayed detection.</a:t>
            </a:r>
          </a:p>
          <a:p>
            <a:r>
              <a:rPr lang="en-US" sz="2400" dirty="0">
                <a:latin typeface="Arial" pitchFamily="34" charset="0"/>
                <a:cs typeface="Arial" pitchFamily="34" charset="0"/>
              </a:rPr>
              <a:t>Users preferred a simple and automatic warning system.</a:t>
            </a:r>
          </a:p>
          <a:p>
            <a:r>
              <a:rPr lang="en-US" sz="2400" dirty="0">
                <a:latin typeface="Arial" pitchFamily="34" charset="0"/>
                <a:cs typeface="Arial" pitchFamily="34" charset="0"/>
              </a:rPr>
              <a:t>Households need an affordable safety device.</a:t>
            </a:r>
          </a:p>
          <a:p>
            <a:pPr marL="0" indent="0" algn="l">
              <a:lnSpc>
                <a:spcPct val="100000"/>
              </a:lnSpc>
              <a:spcBef>
                <a:spcPts val="0"/>
              </a:spcBef>
              <a:spcAft>
                <a:spcPts val="0"/>
              </a:spcAft>
              <a:buNone/>
            </a:pPr>
            <a:endParaRPr lang="zh-CN" altLang="en-US" sz="2400" b="0" i="0" u="none" strike="noStrike" kern="1200" cap="none" spc="0" baseline="0" dirty="0">
              <a:solidFill>
                <a:schemeClr val="tx1"/>
              </a:solidFill>
              <a:latin typeface="Arial" pitchFamily="34" charset="0"/>
              <a:cs typeface="Arial" pitchFamily="34" charset="0"/>
            </a:endParaRPr>
          </a:p>
        </p:txBody>
      </p:sp>
      <p:sp>
        <p:nvSpPr>
          <p:cNvPr id="66" name="Rectangle"/>
          <p:cNvSpPr>
            <a:spLocks/>
          </p:cNvSpPr>
          <p:nvPr/>
        </p:nvSpPr>
        <p:spPr>
          <a:xfrm>
            <a:off x="7991840" y="2479130"/>
            <a:ext cx="7802136" cy="2677656"/>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r>
              <a:rPr lang="en-US" sz="2400" dirty="0">
                <a:latin typeface="Arial" pitchFamily="34" charset="0"/>
                <a:cs typeface="Arial" pitchFamily="34" charset="0"/>
              </a:rPr>
              <a:t>Based on feedback, we improved our design by:</a:t>
            </a:r>
          </a:p>
          <a:p>
            <a:r>
              <a:rPr lang="en-US" sz="2400" dirty="0">
                <a:latin typeface="Arial" pitchFamily="34" charset="0"/>
                <a:cs typeface="Arial" pitchFamily="34" charset="0"/>
              </a:rPr>
              <a:t>Using an MQ-2 gas sensor for leak detection.</a:t>
            </a:r>
          </a:p>
          <a:p>
            <a:r>
              <a:rPr lang="en-US" sz="2400" dirty="0">
                <a:latin typeface="Arial" pitchFamily="34" charset="0"/>
                <a:cs typeface="Arial" pitchFamily="34" charset="0"/>
              </a:rPr>
              <a:t>Integrating a microcontroller for processing sensor data.</a:t>
            </a:r>
          </a:p>
          <a:p>
            <a:r>
              <a:rPr lang="en-US" sz="2400" dirty="0">
                <a:latin typeface="Arial" pitchFamily="34" charset="0"/>
                <a:cs typeface="Arial" pitchFamily="34" charset="0"/>
              </a:rPr>
              <a:t>Adding a buzzer for audible alerts.</a:t>
            </a:r>
          </a:p>
          <a:p>
            <a:r>
              <a:rPr lang="en-US" sz="2400" dirty="0">
                <a:latin typeface="Arial" pitchFamily="34" charset="0"/>
                <a:cs typeface="Arial" pitchFamily="34" charset="0"/>
              </a:rPr>
              <a:t>Adding LEDs for visual alerts.</a:t>
            </a:r>
          </a:p>
          <a:p>
            <a:r>
              <a:rPr lang="en-US" sz="2400" dirty="0">
                <a:latin typeface="Arial" pitchFamily="34" charset="0"/>
                <a:cs typeface="Arial" pitchFamily="34" charset="0"/>
              </a:rPr>
              <a:t>Optimizing sensitivity for reliable detection.</a:t>
            </a:r>
          </a:p>
          <a:p>
            <a:pPr marL="0" indent="0" algn="l">
              <a:lnSpc>
                <a:spcPct val="100000"/>
              </a:lnSpc>
              <a:spcBef>
                <a:spcPts val="0"/>
              </a:spcBef>
              <a:spcAft>
                <a:spcPts val="0"/>
              </a:spcAft>
              <a:buNone/>
            </a:pPr>
            <a:endParaRPr lang="zh-CN" altLang="en-US" sz="2400" b="0" i="0" u="none" strike="noStrike" kern="1200" cap="none" spc="0" baseline="0" dirty="0">
              <a:solidFill>
                <a:schemeClr val="tx1"/>
              </a:solidFill>
              <a:latin typeface="Arial" pitchFamily="34" charset="0"/>
              <a:cs typeface="Arial" pitchFamily="34" charset="0"/>
            </a:endParaRPr>
          </a:p>
        </p:txBody>
      </p:sp>
      <p:sp>
        <p:nvSpPr>
          <p:cNvPr id="67" name="Rectangle"/>
          <p:cNvSpPr>
            <a:spLocks/>
          </p:cNvSpPr>
          <p:nvPr/>
        </p:nvSpPr>
        <p:spPr>
          <a:xfrm>
            <a:off x="10368170" y="7303800"/>
            <a:ext cx="7485575" cy="2308324"/>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r>
              <a:rPr lang="en-US" sz="2400" dirty="0">
                <a:latin typeface="Arial" pitchFamily="34" charset="0"/>
                <a:cs typeface="Arial" pitchFamily="34" charset="0"/>
              </a:rPr>
              <a:t>A Smart Gas Leakage Sensor that:</a:t>
            </a:r>
          </a:p>
          <a:p>
            <a:r>
              <a:rPr lang="en-US" sz="2400" dirty="0">
                <a:latin typeface="Arial" pitchFamily="34" charset="0"/>
                <a:cs typeface="Arial" pitchFamily="34" charset="0"/>
              </a:rPr>
              <a:t>Continuously monitors gas concentration.</a:t>
            </a:r>
          </a:p>
          <a:p>
            <a:r>
              <a:rPr lang="en-US" sz="2400" dirty="0">
                <a:latin typeface="Arial" pitchFamily="34" charset="0"/>
                <a:cs typeface="Arial" pitchFamily="34" charset="0"/>
              </a:rPr>
              <a:t>Detects LPG leakage in real time.</a:t>
            </a:r>
          </a:p>
          <a:p>
            <a:r>
              <a:rPr lang="en-US" sz="2400" dirty="0">
                <a:latin typeface="Arial" pitchFamily="34" charset="0"/>
                <a:cs typeface="Arial" pitchFamily="34" charset="0"/>
              </a:rPr>
              <a:t>Activates buzzer and LED alarms automatically.</a:t>
            </a:r>
          </a:p>
          <a:p>
            <a:r>
              <a:rPr lang="en-US" sz="2400" dirty="0">
                <a:latin typeface="Arial" pitchFamily="34" charset="0"/>
                <a:cs typeface="Arial" pitchFamily="34" charset="0"/>
              </a:rPr>
              <a:t>Provides a quick and effective safety warning system.</a:t>
            </a:r>
          </a:p>
          <a:p>
            <a:pPr marL="0" indent="0" algn="l">
              <a:lnSpc>
                <a:spcPct val="100000"/>
              </a:lnSpc>
              <a:spcBef>
                <a:spcPts val="0"/>
              </a:spcBef>
              <a:spcAft>
                <a:spcPts val="0"/>
              </a:spcAft>
              <a:buNone/>
            </a:pPr>
            <a:endParaRPr lang="zh-CN" altLang="en-US" sz="2400" b="0" i="0" u="none" strike="noStrike" kern="1200" cap="none" spc="0" baseline="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89600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8" name="Straight line"/>
          <p:cNvSpPr>
            <a:spLocks/>
          </p:cNvSpPr>
          <p:nvPr/>
        </p:nvSpPr>
        <p:spPr>
          <a:xfrm flipV="1">
            <a:off x="15239" y="2019300"/>
            <a:ext cx="17865820" cy="0"/>
          </a:xfrm>
          <a:prstGeom prst="line">
            <a:avLst/>
          </a:prstGeom>
          <a:noFill/>
          <a:ln w="38100" cap="flat" cmpd="sng">
            <a:solidFill>
              <a:srgbClr val="000000"/>
            </a:solidFill>
            <a:prstDash val="solid"/>
            <a:round/>
          </a:ln>
        </p:spPr>
      </p:sp>
      <p:pic>
        <p:nvPicPr>
          <p:cNvPr id="69" name="Image"/>
          <p:cNvPicPr>
            <a:picLocks noChangeAspect="1"/>
          </p:cNvPicPr>
          <p:nvPr/>
        </p:nvPicPr>
        <p:blipFill>
          <a:blip r:embed="rId2" cstate="print"/>
          <a:stretch>
            <a:fillRect/>
          </a:stretch>
        </p:blipFill>
        <p:spPr>
          <a:xfrm>
            <a:off x="16916400" y="8966090"/>
            <a:ext cx="1371600" cy="1320910"/>
          </a:xfrm>
          <a:prstGeom prst="rect">
            <a:avLst/>
          </a:prstGeom>
          <a:noFill/>
          <a:ln w="12700" cap="flat" cmpd="sng">
            <a:noFill/>
            <a:prstDash val="solid"/>
            <a:miter/>
          </a:ln>
        </p:spPr>
      </p:pic>
      <p:sp>
        <p:nvSpPr>
          <p:cNvPr id="70" name="Oval" descr="Your startup LOGO"/>
          <p:cNvSpPr>
            <a:spLocks/>
          </p:cNvSpPr>
          <p:nvPr/>
        </p:nvSpPr>
        <p:spPr>
          <a:xfrm>
            <a:off x="558374" y="369830"/>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71" name="曲线"/>
          <p:cNvSpPr>
            <a:spLocks/>
          </p:cNvSpPr>
          <p:nvPr/>
        </p:nvSpPr>
        <p:spPr>
          <a:xfrm>
            <a:off x="152400" y="9182100"/>
            <a:ext cx="2337225" cy="906054"/>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3" cstate="print"/>
            <a:stretch/>
          </a:blipFill>
          <a:ln cap="flat" cmpd="sng">
            <a:noFill/>
            <a:prstDash val="solid"/>
            <a:miter/>
          </a:ln>
        </p:spPr>
      </p:sp>
      <p:sp>
        <p:nvSpPr>
          <p:cNvPr id="72" name="Rectangle"/>
          <p:cNvSpPr>
            <a:spLocks/>
          </p:cNvSpPr>
          <p:nvPr/>
        </p:nvSpPr>
        <p:spPr>
          <a:xfrm>
            <a:off x="3733800" y="847722"/>
            <a:ext cx="10972800" cy="1142999"/>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eaLnBrk="1" latinLnBrk="0" hangingPunct="1">
              <a:lnSpc>
                <a:spcPct val="100000"/>
              </a:lnSpc>
              <a:spcBef>
                <a:spcPts val="0"/>
              </a:spcBef>
              <a:spcAft>
                <a:spcPts val="0"/>
              </a:spcAft>
              <a:buNone/>
            </a:pPr>
            <a:r>
              <a:rPr lang="en-US" altLang="zh-CN" sz="3600" b="1" i="0" u="none" strike="noStrike" kern="1200" cap="none" spc="0" baseline="0">
                <a:solidFill>
                  <a:schemeClr val="tx1"/>
                </a:solidFill>
                <a:latin typeface="Times New Roman" pitchFamily="18" charset="0"/>
                <a:ea typeface="ＭＳ Ｐゴシック" pitchFamily="1" charset="-128"/>
                <a:cs typeface="Times New Roman" pitchFamily="18" charset="0"/>
              </a:rPr>
              <a:t>FEASIBILITY AND VIABILITY</a:t>
            </a:r>
            <a:endParaRPr lang="zh-CN" altLang="en-US" sz="36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grpSp>
        <p:nvGrpSpPr>
          <p:cNvPr id="74" name="Combination"/>
          <p:cNvGrpSpPr>
            <a:grpSpLocks/>
          </p:cNvGrpSpPr>
          <p:nvPr/>
        </p:nvGrpSpPr>
        <p:grpSpPr>
          <a:xfrm>
            <a:off x="1028700" y="5676900"/>
            <a:ext cx="16230602" cy="76200"/>
            <a:chOff x="1028700" y="5676900"/>
            <a:chExt cx="16230602" cy="76200"/>
          </a:xfrm>
        </p:grpSpPr>
        <p:sp>
          <p:nvSpPr>
            <p:cNvPr id="73" name="曲线"/>
            <p:cNvSpPr>
              <a:spLocks/>
            </p:cNvSpPr>
            <p:nvPr/>
          </p:nvSpPr>
          <p:spPr>
            <a:xfrm>
              <a:off x="1028700" y="5676900"/>
              <a:ext cx="16230602" cy="76200"/>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close/>
                </a:path>
              </a:pathLst>
            </a:custGeom>
            <a:solidFill>
              <a:srgbClr val="8C7753"/>
            </a:solidFill>
            <a:ln w="12700" cap="flat" cmpd="sng">
              <a:solidFill>
                <a:srgbClr val="000000"/>
              </a:solidFill>
              <a:prstDash val="solid"/>
              <a:round/>
            </a:ln>
          </p:spPr>
        </p:sp>
      </p:grpSp>
      <p:grpSp>
        <p:nvGrpSpPr>
          <p:cNvPr id="76" name="Combination"/>
          <p:cNvGrpSpPr>
            <a:grpSpLocks/>
          </p:cNvGrpSpPr>
          <p:nvPr/>
        </p:nvGrpSpPr>
        <p:grpSpPr>
          <a:xfrm>
            <a:off x="1321603" y="2131209"/>
            <a:ext cx="19050" cy="3593305"/>
            <a:chOff x="1321603" y="2131209"/>
            <a:chExt cx="19050" cy="3593305"/>
          </a:xfrm>
        </p:grpSpPr>
        <p:sp>
          <p:nvSpPr>
            <p:cNvPr id="75" name="曲线"/>
            <p:cNvSpPr>
              <a:spLocks/>
            </p:cNvSpPr>
            <p:nvPr/>
          </p:nvSpPr>
          <p:spPr>
            <a:xfrm>
              <a:off x="1321603" y="2131209"/>
              <a:ext cx="19050" cy="3593305"/>
            </a:xfrm>
            <a:custGeom>
              <a:avLst/>
              <a:gdLst>
                <a:gd name="T1" fmla="*/ 0 w 21600"/>
                <a:gd name="T2" fmla="*/ 0 h 21600"/>
                <a:gd name="T3" fmla="*/ 21600 w 21600"/>
                <a:gd name="T4" fmla="*/ 21600 h 21600"/>
              </a:gdLst>
              <a:ahLst/>
              <a:cxnLst/>
              <a:rect l="T1" t="T2" r="T3" b="T4"/>
              <a:pathLst>
                <a:path w="21600" h="21600">
                  <a:moveTo>
                    <a:pt x="21600" y="57"/>
                  </a:moveTo>
                  <a:lnTo>
                    <a:pt x="21600" y="21542"/>
                  </a:lnTo>
                  <a:cubicBezTo>
                    <a:pt x="21600" y="21574"/>
                    <a:pt x="16739" y="21600"/>
                    <a:pt x="10800" y="21600"/>
                  </a:cubicBezTo>
                  <a:cubicBezTo>
                    <a:pt x="4860" y="21600"/>
                    <a:pt x="0" y="21574"/>
                    <a:pt x="0" y="21542"/>
                  </a:cubicBezTo>
                  <a:lnTo>
                    <a:pt x="0" y="57"/>
                  </a:lnTo>
                  <a:cubicBezTo>
                    <a:pt x="0" y="25"/>
                    <a:pt x="4860" y="0"/>
                    <a:pt x="10800" y="0"/>
                  </a:cubicBezTo>
                  <a:cubicBezTo>
                    <a:pt x="16739" y="0"/>
                    <a:pt x="21600" y="25"/>
                    <a:pt x="21600" y="57"/>
                  </a:cubicBezTo>
                  <a:close/>
                </a:path>
              </a:pathLst>
            </a:custGeom>
            <a:solidFill>
              <a:srgbClr val="8C7753"/>
            </a:solidFill>
            <a:ln w="12700" cap="flat" cmpd="sng">
              <a:solidFill>
                <a:srgbClr val="000000"/>
              </a:solidFill>
              <a:prstDash val="solid"/>
              <a:round/>
            </a:ln>
          </p:spPr>
        </p:sp>
      </p:grpSp>
      <p:grpSp>
        <p:nvGrpSpPr>
          <p:cNvPr id="78" name="Combination"/>
          <p:cNvGrpSpPr>
            <a:grpSpLocks/>
          </p:cNvGrpSpPr>
          <p:nvPr/>
        </p:nvGrpSpPr>
        <p:grpSpPr>
          <a:xfrm>
            <a:off x="5410200" y="5753100"/>
            <a:ext cx="19049" cy="3593305"/>
            <a:chOff x="5410200" y="5753100"/>
            <a:chExt cx="19049" cy="3593305"/>
          </a:xfrm>
        </p:grpSpPr>
        <p:sp>
          <p:nvSpPr>
            <p:cNvPr id="77" name="曲线"/>
            <p:cNvSpPr>
              <a:spLocks/>
            </p:cNvSpPr>
            <p:nvPr/>
          </p:nvSpPr>
          <p:spPr>
            <a:xfrm>
              <a:off x="5410200" y="5753100"/>
              <a:ext cx="19049" cy="3593305"/>
            </a:xfrm>
            <a:custGeom>
              <a:avLst/>
              <a:gdLst>
                <a:gd name="T1" fmla="*/ 0 w 21600"/>
                <a:gd name="T2" fmla="*/ 0 h 21600"/>
                <a:gd name="T3" fmla="*/ 21600 w 21600"/>
                <a:gd name="T4" fmla="*/ 21600 h 21600"/>
              </a:gdLst>
              <a:ahLst/>
              <a:cxnLst/>
              <a:rect l="T1" t="T2" r="T3" b="T4"/>
              <a:pathLst>
                <a:path w="21600" h="21600">
                  <a:moveTo>
                    <a:pt x="21600" y="57"/>
                  </a:moveTo>
                  <a:lnTo>
                    <a:pt x="21600" y="21542"/>
                  </a:lnTo>
                  <a:cubicBezTo>
                    <a:pt x="21600" y="21574"/>
                    <a:pt x="16739" y="21600"/>
                    <a:pt x="10800" y="21600"/>
                  </a:cubicBezTo>
                  <a:cubicBezTo>
                    <a:pt x="4860" y="21600"/>
                    <a:pt x="0" y="21574"/>
                    <a:pt x="0" y="21542"/>
                  </a:cubicBezTo>
                  <a:lnTo>
                    <a:pt x="0" y="57"/>
                  </a:lnTo>
                  <a:cubicBezTo>
                    <a:pt x="0" y="25"/>
                    <a:pt x="4860" y="0"/>
                    <a:pt x="10800" y="0"/>
                  </a:cubicBezTo>
                  <a:cubicBezTo>
                    <a:pt x="16739" y="0"/>
                    <a:pt x="21600" y="25"/>
                    <a:pt x="21600" y="57"/>
                  </a:cubicBezTo>
                  <a:close/>
                </a:path>
              </a:pathLst>
            </a:custGeom>
            <a:solidFill>
              <a:srgbClr val="8C7753"/>
            </a:solidFill>
            <a:ln w="12700" cap="flat" cmpd="sng">
              <a:solidFill>
                <a:srgbClr val="000000"/>
              </a:solidFill>
              <a:prstDash val="solid"/>
              <a:round/>
            </a:ln>
          </p:spPr>
        </p:sp>
      </p:grpSp>
      <p:grpSp>
        <p:nvGrpSpPr>
          <p:cNvPr id="80" name="Combination"/>
          <p:cNvGrpSpPr>
            <a:grpSpLocks/>
          </p:cNvGrpSpPr>
          <p:nvPr/>
        </p:nvGrpSpPr>
        <p:grpSpPr>
          <a:xfrm>
            <a:off x="7315200" y="2095500"/>
            <a:ext cx="19049" cy="3593305"/>
            <a:chOff x="7315200" y="2095500"/>
            <a:chExt cx="19049" cy="3593305"/>
          </a:xfrm>
        </p:grpSpPr>
        <p:sp>
          <p:nvSpPr>
            <p:cNvPr id="79" name="曲线"/>
            <p:cNvSpPr>
              <a:spLocks/>
            </p:cNvSpPr>
            <p:nvPr/>
          </p:nvSpPr>
          <p:spPr>
            <a:xfrm>
              <a:off x="7315200" y="2095500"/>
              <a:ext cx="19049" cy="3593305"/>
            </a:xfrm>
            <a:custGeom>
              <a:avLst/>
              <a:gdLst>
                <a:gd name="T1" fmla="*/ 0 w 21600"/>
                <a:gd name="T2" fmla="*/ 0 h 21600"/>
                <a:gd name="T3" fmla="*/ 21600 w 21600"/>
                <a:gd name="T4" fmla="*/ 21600 h 21600"/>
              </a:gdLst>
              <a:ahLst/>
              <a:cxnLst/>
              <a:rect l="T1" t="T2" r="T3" b="T4"/>
              <a:pathLst>
                <a:path w="21600" h="21600">
                  <a:moveTo>
                    <a:pt x="21600" y="57"/>
                  </a:moveTo>
                  <a:lnTo>
                    <a:pt x="21600" y="21542"/>
                  </a:lnTo>
                  <a:cubicBezTo>
                    <a:pt x="21600" y="21574"/>
                    <a:pt x="16739" y="21600"/>
                    <a:pt x="10800" y="21600"/>
                  </a:cubicBezTo>
                  <a:cubicBezTo>
                    <a:pt x="4860" y="21600"/>
                    <a:pt x="0" y="21574"/>
                    <a:pt x="0" y="21542"/>
                  </a:cubicBezTo>
                  <a:lnTo>
                    <a:pt x="0" y="57"/>
                  </a:lnTo>
                  <a:cubicBezTo>
                    <a:pt x="0" y="25"/>
                    <a:pt x="4860" y="0"/>
                    <a:pt x="10800" y="0"/>
                  </a:cubicBezTo>
                  <a:cubicBezTo>
                    <a:pt x="16739" y="0"/>
                    <a:pt x="21600" y="25"/>
                    <a:pt x="21600" y="57"/>
                  </a:cubicBezTo>
                  <a:close/>
                </a:path>
              </a:pathLst>
            </a:custGeom>
            <a:solidFill>
              <a:srgbClr val="8C7753"/>
            </a:solidFill>
            <a:ln w="12700" cap="flat" cmpd="sng">
              <a:solidFill>
                <a:srgbClr val="000000"/>
              </a:solidFill>
              <a:prstDash val="solid"/>
              <a:round/>
            </a:ln>
          </p:spPr>
        </p:sp>
      </p:grpSp>
      <p:grpSp>
        <p:nvGrpSpPr>
          <p:cNvPr id="82" name="Combination"/>
          <p:cNvGrpSpPr>
            <a:grpSpLocks/>
          </p:cNvGrpSpPr>
          <p:nvPr/>
        </p:nvGrpSpPr>
        <p:grpSpPr>
          <a:xfrm>
            <a:off x="11049000" y="5676900"/>
            <a:ext cx="19049" cy="3593305"/>
            <a:chOff x="11049000" y="5676900"/>
            <a:chExt cx="19049" cy="3593305"/>
          </a:xfrm>
        </p:grpSpPr>
        <p:sp>
          <p:nvSpPr>
            <p:cNvPr id="81" name="曲线"/>
            <p:cNvSpPr>
              <a:spLocks/>
            </p:cNvSpPr>
            <p:nvPr/>
          </p:nvSpPr>
          <p:spPr>
            <a:xfrm>
              <a:off x="11049000" y="5676900"/>
              <a:ext cx="19049" cy="3593305"/>
            </a:xfrm>
            <a:custGeom>
              <a:avLst/>
              <a:gdLst>
                <a:gd name="T1" fmla="*/ 0 w 21600"/>
                <a:gd name="T2" fmla="*/ 0 h 21600"/>
                <a:gd name="T3" fmla="*/ 21600 w 21600"/>
                <a:gd name="T4" fmla="*/ 21600 h 21600"/>
              </a:gdLst>
              <a:ahLst/>
              <a:cxnLst/>
              <a:rect l="T1" t="T2" r="T3" b="T4"/>
              <a:pathLst>
                <a:path w="21600" h="21600">
                  <a:moveTo>
                    <a:pt x="21600" y="57"/>
                  </a:moveTo>
                  <a:lnTo>
                    <a:pt x="21600" y="21542"/>
                  </a:lnTo>
                  <a:cubicBezTo>
                    <a:pt x="21600" y="21574"/>
                    <a:pt x="16740" y="21600"/>
                    <a:pt x="10800" y="21600"/>
                  </a:cubicBezTo>
                  <a:cubicBezTo>
                    <a:pt x="4859" y="21600"/>
                    <a:pt x="0" y="21574"/>
                    <a:pt x="0" y="21542"/>
                  </a:cubicBezTo>
                  <a:lnTo>
                    <a:pt x="0" y="57"/>
                  </a:lnTo>
                  <a:cubicBezTo>
                    <a:pt x="0" y="25"/>
                    <a:pt x="4859" y="0"/>
                    <a:pt x="10800" y="0"/>
                  </a:cubicBezTo>
                  <a:cubicBezTo>
                    <a:pt x="16740" y="0"/>
                    <a:pt x="21600" y="25"/>
                    <a:pt x="21600" y="57"/>
                  </a:cubicBezTo>
                  <a:close/>
                </a:path>
              </a:pathLst>
            </a:custGeom>
            <a:solidFill>
              <a:srgbClr val="8C7753"/>
            </a:solidFill>
            <a:ln w="12700" cap="flat" cmpd="sng">
              <a:solidFill>
                <a:srgbClr val="000000"/>
              </a:solidFill>
              <a:prstDash val="solid"/>
              <a:round/>
            </a:ln>
          </p:spPr>
        </p:sp>
      </p:grpSp>
      <p:grpSp>
        <p:nvGrpSpPr>
          <p:cNvPr id="84" name="Combination"/>
          <p:cNvGrpSpPr>
            <a:grpSpLocks/>
          </p:cNvGrpSpPr>
          <p:nvPr/>
        </p:nvGrpSpPr>
        <p:grpSpPr>
          <a:xfrm>
            <a:off x="12420601" y="2095500"/>
            <a:ext cx="19049" cy="3593305"/>
            <a:chOff x="12420601" y="2095500"/>
            <a:chExt cx="19049" cy="3593305"/>
          </a:xfrm>
        </p:grpSpPr>
        <p:sp>
          <p:nvSpPr>
            <p:cNvPr id="83" name="曲线"/>
            <p:cNvSpPr>
              <a:spLocks/>
            </p:cNvSpPr>
            <p:nvPr/>
          </p:nvSpPr>
          <p:spPr>
            <a:xfrm>
              <a:off x="12420601" y="2095500"/>
              <a:ext cx="19049" cy="3593305"/>
            </a:xfrm>
            <a:custGeom>
              <a:avLst/>
              <a:gdLst>
                <a:gd name="T1" fmla="*/ 0 w 21600"/>
                <a:gd name="T2" fmla="*/ 0 h 21600"/>
                <a:gd name="T3" fmla="*/ 21600 w 21600"/>
                <a:gd name="T4" fmla="*/ 21600 h 21600"/>
              </a:gdLst>
              <a:ahLst/>
              <a:cxnLst/>
              <a:rect l="T1" t="T2" r="T3" b="T4"/>
              <a:pathLst>
                <a:path w="21600" h="21600">
                  <a:moveTo>
                    <a:pt x="21600" y="57"/>
                  </a:moveTo>
                  <a:lnTo>
                    <a:pt x="21600" y="21542"/>
                  </a:lnTo>
                  <a:cubicBezTo>
                    <a:pt x="21600" y="21574"/>
                    <a:pt x="16740" y="21600"/>
                    <a:pt x="10800" y="21600"/>
                  </a:cubicBezTo>
                  <a:cubicBezTo>
                    <a:pt x="4859" y="21600"/>
                    <a:pt x="0" y="21574"/>
                    <a:pt x="0" y="21542"/>
                  </a:cubicBezTo>
                  <a:lnTo>
                    <a:pt x="0" y="57"/>
                  </a:lnTo>
                  <a:cubicBezTo>
                    <a:pt x="0" y="25"/>
                    <a:pt x="4859" y="0"/>
                    <a:pt x="10800" y="0"/>
                  </a:cubicBezTo>
                  <a:cubicBezTo>
                    <a:pt x="16740" y="0"/>
                    <a:pt x="21600" y="25"/>
                    <a:pt x="21600" y="57"/>
                  </a:cubicBezTo>
                  <a:close/>
                </a:path>
              </a:pathLst>
            </a:custGeom>
            <a:solidFill>
              <a:srgbClr val="8C7753"/>
            </a:solidFill>
            <a:ln w="12700" cap="flat" cmpd="sng">
              <a:solidFill>
                <a:srgbClr val="000000"/>
              </a:solidFill>
              <a:prstDash val="solid"/>
              <a:round/>
            </a:ln>
          </p:spPr>
        </p:sp>
      </p:grpSp>
      <p:sp>
        <p:nvSpPr>
          <p:cNvPr id="85" name="Rectangle"/>
          <p:cNvSpPr>
            <a:spLocks/>
          </p:cNvSpPr>
          <p:nvPr/>
        </p:nvSpPr>
        <p:spPr>
          <a:xfrm>
            <a:off x="1524000" y="2247900"/>
            <a:ext cx="1509140" cy="815339"/>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rgbClr val="4A7576"/>
                </a:solidFill>
                <a:latin typeface="Open Sauce Bold" charset="0"/>
                <a:ea typeface="Open Sauce Bold" charset="0"/>
                <a:cs typeface="Open Sauce Bold" charset="0"/>
                <a:sym typeface="Open Sauce Bold" charset="0"/>
              </a:rPr>
              <a:t>Research</a:t>
            </a:r>
          </a:p>
          <a:p>
            <a:pPr marL="0" indent="0" algn="l">
              <a:lnSpc>
                <a:spcPct val="100000"/>
              </a:lnSpc>
              <a:spcBef>
                <a:spcPts val="0"/>
              </a:spcBef>
              <a:spcAft>
                <a:spcPts val="0"/>
              </a:spcAft>
              <a:buNone/>
            </a:pPr>
            <a:endParaRPr lang="zh-CN" altLang="en-US" sz="2400" b="0" i="0" u="none" strike="noStrike" kern="1200" cap="none" spc="0" baseline="0">
              <a:solidFill>
                <a:schemeClr val="tx1"/>
              </a:solidFill>
              <a:latin typeface="Calibri" charset="0"/>
              <a:ea typeface="宋体" charset="0"/>
              <a:cs typeface="Calibri" charset="0"/>
            </a:endParaRPr>
          </a:p>
        </p:txBody>
      </p:sp>
      <p:sp>
        <p:nvSpPr>
          <p:cNvPr id="86" name="Rectangle"/>
          <p:cNvSpPr>
            <a:spLocks/>
          </p:cNvSpPr>
          <p:nvPr/>
        </p:nvSpPr>
        <p:spPr>
          <a:xfrm>
            <a:off x="7467600" y="2095500"/>
            <a:ext cx="1844421" cy="7200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rgbClr val="4A7576"/>
                </a:solidFill>
                <a:latin typeface="Open Sauce Bold" charset="0"/>
                <a:ea typeface="Open Sauce Bold" charset="0"/>
                <a:cs typeface="Open Sauce Bold" charset="0"/>
                <a:sym typeface="Open Sauce Bold" charset="0"/>
              </a:rPr>
              <a:t>Prototyping</a:t>
            </a: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charset="0"/>
              <a:ea typeface="宋体" charset="0"/>
              <a:cs typeface="Calibri" charset="0"/>
            </a:endParaRPr>
          </a:p>
        </p:txBody>
      </p:sp>
      <p:sp>
        <p:nvSpPr>
          <p:cNvPr id="87" name="Rectangle"/>
          <p:cNvSpPr>
            <a:spLocks/>
          </p:cNvSpPr>
          <p:nvPr/>
        </p:nvSpPr>
        <p:spPr>
          <a:xfrm>
            <a:off x="12572999" y="2171700"/>
            <a:ext cx="1624964" cy="72009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rgbClr val="4A7576"/>
                </a:solidFill>
                <a:latin typeface="Open Sauce Bold" charset="0"/>
                <a:ea typeface="Open Sauce Bold" charset="0"/>
                <a:cs typeface="Open Sauce Bold" charset="0"/>
                <a:sym typeface="Open Sauce Bold" charset="0"/>
              </a:rPr>
              <a:t>Final Build</a:t>
            </a: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charset="0"/>
              <a:ea typeface="宋体" charset="0"/>
              <a:cs typeface="Calibri" charset="0"/>
            </a:endParaRPr>
          </a:p>
        </p:txBody>
      </p:sp>
      <p:sp>
        <p:nvSpPr>
          <p:cNvPr id="88" name="Rectangle"/>
          <p:cNvSpPr>
            <a:spLocks/>
          </p:cNvSpPr>
          <p:nvPr/>
        </p:nvSpPr>
        <p:spPr>
          <a:xfrm>
            <a:off x="5638800" y="5905500"/>
            <a:ext cx="1314069" cy="815340"/>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rgbClr val="4A7576"/>
                </a:solidFill>
                <a:latin typeface="Open Sauce Bold" charset="0"/>
                <a:ea typeface="Open Sauce Bold" charset="0"/>
                <a:cs typeface="Open Sauce Bold" charset="0"/>
                <a:sym typeface="Open Sauce Bold" charset="0"/>
              </a:rPr>
              <a:t>Ideation</a:t>
            </a:r>
          </a:p>
          <a:p>
            <a:pPr marL="0" indent="0" algn="l">
              <a:lnSpc>
                <a:spcPct val="100000"/>
              </a:lnSpc>
              <a:spcBef>
                <a:spcPts val="0"/>
              </a:spcBef>
              <a:spcAft>
                <a:spcPts val="0"/>
              </a:spcAft>
              <a:buNone/>
            </a:pPr>
            <a:endParaRPr lang="zh-CN" altLang="en-US" sz="2400" b="0" i="0" u="none" strike="noStrike" kern="1200" cap="none" spc="0" baseline="0">
              <a:solidFill>
                <a:schemeClr val="tx1"/>
              </a:solidFill>
              <a:latin typeface="Calibri" charset="0"/>
              <a:ea typeface="宋体" charset="0"/>
              <a:cs typeface="Calibri" charset="0"/>
            </a:endParaRPr>
          </a:p>
        </p:txBody>
      </p:sp>
      <p:sp>
        <p:nvSpPr>
          <p:cNvPr id="89" name="Rectangle"/>
          <p:cNvSpPr>
            <a:spLocks/>
          </p:cNvSpPr>
          <p:nvPr/>
        </p:nvSpPr>
        <p:spPr>
          <a:xfrm>
            <a:off x="11201399" y="5905500"/>
            <a:ext cx="3246501" cy="720089"/>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1" i="0" u="none" strike="noStrike" kern="1200" cap="none" spc="0" baseline="0">
                <a:solidFill>
                  <a:srgbClr val="4A7576"/>
                </a:solidFill>
                <a:latin typeface="Open Sauce Bold" charset="0"/>
                <a:ea typeface="Open Sauce Bold" charset="0"/>
                <a:cs typeface="Open Sauce Bold" charset="0"/>
                <a:sym typeface="Open Sauce Bold" charset="0"/>
              </a:rPr>
              <a:t>Feedback &amp; Revisions</a:t>
            </a:r>
          </a:p>
          <a:p>
            <a:pPr marL="0" indent="0" algn="l">
              <a:lnSpc>
                <a:spcPct val="100000"/>
              </a:lnSpc>
              <a:spcBef>
                <a:spcPts val="0"/>
              </a:spcBef>
              <a:spcAft>
                <a:spcPts val="0"/>
              </a:spcAft>
              <a:buNone/>
            </a:pPr>
            <a:endParaRPr lang="zh-CN" altLang="en-US" sz="1800" b="0" i="0" u="none" strike="noStrike" kern="1200" cap="none" spc="0" baseline="0">
              <a:solidFill>
                <a:schemeClr val="tx1"/>
              </a:solidFill>
              <a:latin typeface="Calibri" charset="0"/>
              <a:ea typeface="宋体" charset="0"/>
              <a:cs typeface="Calibri" charset="0"/>
            </a:endParaRPr>
          </a:p>
        </p:txBody>
      </p:sp>
      <p:sp>
        <p:nvSpPr>
          <p:cNvPr id="90" name="Rectangle"/>
          <p:cNvSpPr>
            <a:spLocks/>
          </p:cNvSpPr>
          <p:nvPr/>
        </p:nvSpPr>
        <p:spPr>
          <a:xfrm>
            <a:off x="1524000" y="2628900"/>
            <a:ext cx="5029200" cy="2862322"/>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dirty="0"/>
              <a:t>Studied common causes of LPG gas leakage in homes and industries. Analyzed accident reports related to gas explosions and fire hazards. Researched various gas sensing technologies and their performance. Compared different gas sensors based on sensitivity, cost, and reliability. Reviewed safety standards and gas leakage prevention methods. Examined existing commercial gas detectors and their limitations.</a:t>
            </a:r>
            <a:endParaRPr lang="zh-CN" altLang="en-US" sz="1800" b="0" i="0" u="none" strike="noStrike" kern="1200" cap="none" spc="0" baseline="0" dirty="0">
              <a:solidFill>
                <a:schemeClr val="tx1"/>
              </a:solidFill>
              <a:latin typeface="Calibri" charset="0"/>
              <a:ea typeface="宋体" charset="0"/>
              <a:cs typeface="Calibri" charset="0"/>
            </a:endParaRPr>
          </a:p>
        </p:txBody>
      </p:sp>
      <p:sp>
        <p:nvSpPr>
          <p:cNvPr id="91" name="Rectangle"/>
          <p:cNvSpPr>
            <a:spLocks/>
          </p:cNvSpPr>
          <p:nvPr/>
        </p:nvSpPr>
        <p:spPr>
          <a:xfrm>
            <a:off x="7315200" y="2476500"/>
            <a:ext cx="5105400" cy="230832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dirty="0"/>
              <a:t>Integrated MQ-2 gas sensor with </a:t>
            </a:r>
            <a:r>
              <a:rPr lang="en-US" dirty="0" err="1"/>
              <a:t>Arduino</a:t>
            </a:r>
            <a:r>
              <a:rPr lang="en-US" dirty="0"/>
              <a:t>/ESP32 microcontroller. Connected buzzer and LED indicators for alert generation. Developed circuit connections and tested sensor responses. Conducted calibration for accurate gas detection. Evaluated sensor performance under different gas concentrations. Verified real-time detection capability.</a:t>
            </a:r>
            <a:endParaRPr lang="zh-CN" altLang="en-US" sz="1800" b="0" i="0" u="none" strike="noStrike" kern="1200" cap="none" spc="0" baseline="0" dirty="0">
              <a:solidFill>
                <a:schemeClr val="tx1"/>
              </a:solidFill>
              <a:latin typeface="Calibri" charset="0"/>
              <a:ea typeface="宋体" charset="0"/>
              <a:cs typeface="Calibri" charset="0"/>
            </a:endParaRPr>
          </a:p>
        </p:txBody>
      </p:sp>
      <p:sp>
        <p:nvSpPr>
          <p:cNvPr id="92" name="Rectangle"/>
          <p:cNvSpPr>
            <a:spLocks/>
          </p:cNvSpPr>
          <p:nvPr/>
        </p:nvSpPr>
        <p:spPr>
          <a:xfrm>
            <a:off x="12649199" y="2628900"/>
            <a:ext cx="4800600" cy="203132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dirty="0"/>
              <a:t>Fully functional hardware prototype completed. Successfully detects LPG gas leakage. Generates instant audio and visual alerts. Demonstrates practical real-world application. Scalable for future enhancements. Ready for further deployment and testing.</a:t>
            </a:r>
            <a:endParaRPr lang="zh-CN" altLang="en-US" sz="1800" b="0" i="0" u="none" strike="noStrike" kern="1200" cap="none" spc="0" baseline="0" dirty="0">
              <a:solidFill>
                <a:schemeClr val="tx1"/>
              </a:solidFill>
              <a:latin typeface="Calibri" charset="0"/>
              <a:ea typeface="宋体" charset="0"/>
              <a:cs typeface="Calibri" charset="0"/>
            </a:endParaRPr>
          </a:p>
        </p:txBody>
      </p:sp>
      <p:sp>
        <p:nvSpPr>
          <p:cNvPr id="93" name="Rectangle"/>
          <p:cNvSpPr>
            <a:spLocks/>
          </p:cNvSpPr>
          <p:nvPr/>
        </p:nvSpPr>
        <p:spPr>
          <a:xfrm>
            <a:off x="5638800" y="6438900"/>
            <a:ext cx="4697295" cy="317009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000" dirty="0"/>
              <a:t>Brainstormed multiple safety solutions for gas leak detection. Focused on creating a low-cost and efficient hardware system. Selected components that are easily available in the market. Designed a compact and user-friendly prototype. Prioritized real-time detection and instant alert mechanisms. Ensured the design can be used in both domestic and industrial environments.</a:t>
            </a:r>
            <a:endParaRPr lang="zh-CN" altLang="en-US" sz="2000" b="0" i="0" u="none" strike="noStrike" kern="1200" cap="none" spc="0" baseline="0" dirty="0">
              <a:solidFill>
                <a:schemeClr val="tx1"/>
              </a:solidFill>
              <a:latin typeface="Calibri" charset="0"/>
              <a:ea typeface="宋体" charset="0"/>
              <a:cs typeface="Calibri" charset="0"/>
            </a:endParaRPr>
          </a:p>
        </p:txBody>
      </p:sp>
      <p:sp>
        <p:nvSpPr>
          <p:cNvPr id="94" name="Rectangle"/>
          <p:cNvSpPr>
            <a:spLocks/>
          </p:cNvSpPr>
          <p:nvPr/>
        </p:nvSpPr>
        <p:spPr>
          <a:xfrm>
            <a:off x="11582401" y="6591300"/>
            <a:ext cx="4343400" cy="203132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dirty="0"/>
              <a:t>Gathered suggestions from faculty and peers. Improved sensor placement for better detection. Enhanced alert visibility using high-intensity LEDs. Optimized buzzer volume for effective warning. Simplified wiring and circuit layout. Improved overall system reliability</a:t>
            </a:r>
            <a:endParaRPr lang="zh-CN" altLang="en-US" sz="1800" b="0" i="0" u="none" strike="noStrike" kern="1200" cap="none" spc="0" baseline="0" dirty="0">
              <a:solidFill>
                <a:schemeClr val="tx1"/>
              </a:solidFill>
              <a:latin typeface="Calibri" charset="0"/>
              <a:ea typeface="宋体" charset="0"/>
              <a:cs typeface="Calibri" charset="0"/>
            </a:endParaRPr>
          </a:p>
        </p:txBody>
      </p:sp>
    </p:spTree>
    <p:extLst>
      <p:ext uri="{BB962C8B-B14F-4D97-AF65-F5344CB8AC3E}">
        <p14:creationId xmlns:p14="http://schemas.microsoft.com/office/powerpoint/2010/main" val="140538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5" name="Straight line"/>
          <p:cNvSpPr>
            <a:spLocks/>
          </p:cNvSpPr>
          <p:nvPr/>
        </p:nvSpPr>
        <p:spPr>
          <a:xfrm flipV="1">
            <a:off x="15239" y="2019300"/>
            <a:ext cx="17865820" cy="0"/>
          </a:xfrm>
          <a:prstGeom prst="line">
            <a:avLst/>
          </a:prstGeom>
          <a:noFill/>
          <a:ln w="38100" cap="flat" cmpd="sng">
            <a:solidFill>
              <a:srgbClr val="000000"/>
            </a:solidFill>
            <a:prstDash val="solid"/>
            <a:round/>
          </a:ln>
        </p:spPr>
      </p:sp>
      <p:pic>
        <p:nvPicPr>
          <p:cNvPr id="96" name="Image"/>
          <p:cNvPicPr>
            <a:picLocks noChangeAspect="1"/>
          </p:cNvPicPr>
          <p:nvPr/>
        </p:nvPicPr>
        <p:blipFill>
          <a:blip r:embed="rId2" cstate="print"/>
          <a:stretch>
            <a:fillRect/>
          </a:stretch>
        </p:blipFill>
        <p:spPr>
          <a:xfrm>
            <a:off x="16916400" y="9182100"/>
            <a:ext cx="1371600" cy="1104899"/>
          </a:xfrm>
          <a:prstGeom prst="rect">
            <a:avLst/>
          </a:prstGeom>
          <a:noFill/>
          <a:ln w="12700" cap="flat" cmpd="sng">
            <a:noFill/>
            <a:prstDash val="solid"/>
            <a:miter/>
          </a:ln>
        </p:spPr>
      </p:pic>
      <p:sp>
        <p:nvSpPr>
          <p:cNvPr id="97" name="Oval" descr="Your startup LOGO"/>
          <p:cNvSpPr>
            <a:spLocks/>
          </p:cNvSpPr>
          <p:nvPr/>
        </p:nvSpPr>
        <p:spPr>
          <a:xfrm>
            <a:off x="558374" y="369830"/>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98" name="曲线"/>
          <p:cNvSpPr>
            <a:spLocks/>
          </p:cNvSpPr>
          <p:nvPr/>
        </p:nvSpPr>
        <p:spPr>
          <a:xfrm>
            <a:off x="152400" y="9182100"/>
            <a:ext cx="2337225" cy="906054"/>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3" cstate="print"/>
            <a:stretch/>
          </a:blipFill>
          <a:ln cap="flat" cmpd="sng">
            <a:noFill/>
            <a:prstDash val="solid"/>
            <a:miter/>
          </a:ln>
        </p:spPr>
      </p:sp>
      <p:sp>
        <p:nvSpPr>
          <p:cNvPr id="99" name="Rectangle"/>
          <p:cNvSpPr>
            <a:spLocks/>
          </p:cNvSpPr>
          <p:nvPr/>
        </p:nvSpPr>
        <p:spPr>
          <a:xfrm>
            <a:off x="4572000" y="723900"/>
            <a:ext cx="10711450" cy="11430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l" eaLnBrk="1" latinLnBrk="0" hangingPunct="1">
              <a:lnSpc>
                <a:spcPts val="5398"/>
              </a:lnSpc>
              <a:spcBef>
                <a:spcPts val="0"/>
              </a:spcBef>
              <a:spcAft>
                <a:spcPts val="0"/>
              </a:spcAft>
              <a:buNone/>
            </a:pPr>
            <a:r>
              <a:rPr lang="en-US" altLang="zh-CN" sz="4000" b="1" i="0" u="none" strike="noStrike" kern="1200" cap="none" spc="-322" baseline="0">
                <a:solidFill>
                  <a:srgbClr val="4A7576"/>
                </a:solidFill>
                <a:latin typeface="Open Sauce Bold" charset="0"/>
                <a:ea typeface="Open Sauce Bold" charset="0"/>
                <a:cs typeface="Open Sauce Bold" charset="0"/>
                <a:sym typeface="Open Sauce Bold" charset="0"/>
              </a:rPr>
              <a:t>SYSTEM  ARCHITECTURE  /  WORKFLOW</a:t>
            </a:r>
          </a:p>
          <a:p>
            <a:pPr marL="0" indent="0" algn="ctr" eaLnBrk="1" latinLnBrk="0" hangingPunct="1">
              <a:lnSpc>
                <a:spcPct val="100000"/>
              </a:lnSpc>
              <a:spcBef>
                <a:spcPts val="0"/>
              </a:spcBef>
              <a:spcAft>
                <a:spcPts val="0"/>
              </a:spcAft>
              <a:buNone/>
            </a:pPr>
            <a:endParaRPr lang="zh-CN" altLang="en-US" sz="40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100" name="Rectangle"/>
          <p:cNvSpPr>
            <a:spLocks/>
          </p:cNvSpPr>
          <p:nvPr/>
        </p:nvSpPr>
        <p:spPr>
          <a:xfrm>
            <a:off x="762000" y="2324100"/>
            <a:ext cx="7569636" cy="612475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800" dirty="0"/>
              <a:t>1.MQ-2 sensor continuously monitors gas levels. </a:t>
            </a:r>
          </a:p>
          <a:p>
            <a:r>
              <a:rPr lang="en-US" sz="2800" dirty="0"/>
              <a:t>2.Sensor detects LPG and combustible gases. 3.Sensor data is sent to the </a:t>
            </a:r>
            <a:r>
              <a:rPr lang="en-US" sz="2800" dirty="0" err="1"/>
              <a:t>Arduino</a:t>
            </a:r>
            <a:r>
              <a:rPr lang="en-US" sz="2800" dirty="0"/>
              <a:t>/ESP32. 4.Microcontroller processes the sensor readings. </a:t>
            </a:r>
          </a:p>
          <a:p>
            <a:r>
              <a:rPr lang="en-US" sz="2800" dirty="0"/>
              <a:t>5.Gas concentration is compared with threshold values. </a:t>
            </a:r>
          </a:p>
          <a:p>
            <a:r>
              <a:rPr lang="en-US" sz="2800" dirty="0"/>
              <a:t>6.Safe condition → Green LED remains ON. 7.Leakage detected → Red LED turns ON. 8.Buzzer activates to alert users immediately. 9.User takes preventive safety measures.</a:t>
            </a:r>
          </a:p>
          <a:p>
            <a:r>
              <a:rPr lang="en-US" sz="2800" dirty="0"/>
              <a:t>10.System continues monitoring until gas levels return to normal.</a:t>
            </a:r>
            <a:endParaRPr lang="zh-CN" altLang="en-US" sz="2800" b="0" i="0" u="none" strike="noStrike" kern="1200" cap="none" spc="0" baseline="0" dirty="0">
              <a:solidFill>
                <a:schemeClr val="tx1"/>
              </a:solidFill>
              <a:latin typeface="Calibri" charset="0"/>
              <a:ea typeface="宋体" charset="0"/>
              <a:cs typeface="Calibri" charset="0"/>
            </a:endParaRPr>
          </a:p>
        </p:txBody>
      </p:sp>
      <p:pic>
        <p:nvPicPr>
          <p:cNvPr id="3" name="Picture 2">
            <a:extLst>
              <a:ext uri="{FF2B5EF4-FFF2-40B4-BE49-F238E27FC236}">
                <a16:creationId xmlns:a16="http://schemas.microsoft.com/office/drawing/2014/main" id="{EEE53127-0659-FE94-2373-FDC2367B2323}"/>
              </a:ext>
            </a:extLst>
          </p:cNvPr>
          <p:cNvPicPr>
            <a:picLocks noChangeAspect="1"/>
          </p:cNvPicPr>
          <p:nvPr/>
        </p:nvPicPr>
        <p:blipFill>
          <a:blip r:embed="rId4"/>
          <a:stretch>
            <a:fillRect/>
          </a:stretch>
        </p:blipFill>
        <p:spPr>
          <a:xfrm>
            <a:off x="8331636" y="2393609"/>
            <a:ext cx="9568729" cy="6381676"/>
          </a:xfrm>
          <a:prstGeom prst="rect">
            <a:avLst/>
          </a:prstGeom>
        </p:spPr>
      </p:pic>
    </p:spTree>
    <p:extLst>
      <p:ext uri="{BB962C8B-B14F-4D97-AF65-F5344CB8AC3E}">
        <p14:creationId xmlns:p14="http://schemas.microsoft.com/office/powerpoint/2010/main" val="1801316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 name="Straight line"/>
          <p:cNvSpPr>
            <a:spLocks/>
          </p:cNvSpPr>
          <p:nvPr/>
        </p:nvSpPr>
        <p:spPr>
          <a:xfrm flipV="1">
            <a:off x="15239" y="2019300"/>
            <a:ext cx="17865820" cy="0"/>
          </a:xfrm>
          <a:prstGeom prst="line">
            <a:avLst/>
          </a:prstGeom>
          <a:noFill/>
          <a:ln w="38100" cap="flat" cmpd="sng">
            <a:solidFill>
              <a:srgbClr val="000000"/>
            </a:solidFill>
            <a:prstDash val="solid"/>
            <a:round/>
          </a:ln>
        </p:spPr>
      </p:sp>
      <p:pic>
        <p:nvPicPr>
          <p:cNvPr id="103" name="Image"/>
          <p:cNvPicPr>
            <a:picLocks noChangeAspect="1"/>
          </p:cNvPicPr>
          <p:nvPr/>
        </p:nvPicPr>
        <p:blipFill>
          <a:blip r:embed="rId2" cstate="print"/>
          <a:stretch>
            <a:fillRect/>
          </a:stretch>
        </p:blipFill>
        <p:spPr>
          <a:xfrm>
            <a:off x="16916400" y="9182100"/>
            <a:ext cx="1371600" cy="1104899"/>
          </a:xfrm>
          <a:prstGeom prst="rect">
            <a:avLst/>
          </a:prstGeom>
          <a:noFill/>
          <a:ln w="12700" cap="flat" cmpd="sng">
            <a:noFill/>
            <a:prstDash val="solid"/>
            <a:miter/>
          </a:ln>
        </p:spPr>
      </p:pic>
      <p:sp>
        <p:nvSpPr>
          <p:cNvPr id="104" name="Oval" descr="Your startup LOGO"/>
          <p:cNvSpPr>
            <a:spLocks/>
          </p:cNvSpPr>
          <p:nvPr/>
        </p:nvSpPr>
        <p:spPr>
          <a:xfrm>
            <a:off x="558374" y="369830"/>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105" name="曲线"/>
          <p:cNvSpPr>
            <a:spLocks/>
          </p:cNvSpPr>
          <p:nvPr/>
        </p:nvSpPr>
        <p:spPr>
          <a:xfrm>
            <a:off x="152400" y="9182100"/>
            <a:ext cx="2337225" cy="906054"/>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3" cstate="print"/>
            <a:stretch/>
          </a:blipFill>
          <a:ln cap="flat" cmpd="sng">
            <a:noFill/>
            <a:prstDash val="solid"/>
            <a:miter/>
          </a:ln>
        </p:spPr>
      </p:sp>
      <p:sp>
        <p:nvSpPr>
          <p:cNvPr id="106" name="Rectangle"/>
          <p:cNvSpPr>
            <a:spLocks/>
          </p:cNvSpPr>
          <p:nvPr/>
        </p:nvSpPr>
        <p:spPr>
          <a:xfrm>
            <a:off x="3887270" y="462850"/>
            <a:ext cx="10657480" cy="100814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eaLnBrk="1" latinLnBrk="0" hangingPunct="1">
              <a:lnSpc>
                <a:spcPct val="100000"/>
              </a:lnSpc>
              <a:spcBef>
                <a:spcPts val="0"/>
              </a:spcBef>
              <a:spcAft>
                <a:spcPts val="0"/>
              </a:spcAft>
              <a:buNone/>
            </a:pPr>
            <a:r>
              <a:rPr lang="en-US" altLang="zh-CN" sz="4000" b="1" i="0" u="none" strike="noStrike" kern="1200" cap="none" spc="0" baseline="0" dirty="0">
                <a:solidFill>
                  <a:schemeClr val="tx1"/>
                </a:solidFill>
                <a:latin typeface="Times New Roman" pitchFamily="18" charset="0"/>
                <a:ea typeface="ＭＳ Ｐゴシック" pitchFamily="1" charset="-128"/>
                <a:cs typeface="Times New Roman" pitchFamily="18" charset="0"/>
              </a:rPr>
              <a:t>WORKING PROTOTYPE AND SYSTEM OUTPUT</a:t>
            </a:r>
            <a:endParaRPr lang="zh-CN" altLang="en-US" sz="4000" b="1" i="0" u="none" strike="noStrike" kern="1200" cap="none" spc="0" baseline="0" dirty="0">
              <a:solidFill>
                <a:schemeClr val="tx1"/>
              </a:solidFill>
              <a:latin typeface="Times New Roman" pitchFamily="18" charset="0"/>
              <a:ea typeface="ＭＳ Ｐゴシック" pitchFamily="1" charset="-128"/>
              <a:cs typeface="Times New Roman" pitchFamily="18" charset="0"/>
            </a:endParaRPr>
          </a:p>
        </p:txBody>
      </p:sp>
      <p:sp>
        <p:nvSpPr>
          <p:cNvPr id="109" name="Rectangle"/>
          <p:cNvSpPr>
            <a:spLocks/>
          </p:cNvSpPr>
          <p:nvPr/>
        </p:nvSpPr>
        <p:spPr>
          <a:xfrm>
            <a:off x="426436" y="7041802"/>
            <a:ext cx="8541591" cy="224676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800" b="1" dirty="0"/>
              <a:t>Normal Condition</a:t>
            </a:r>
          </a:p>
          <a:p>
            <a:r>
              <a:rPr lang="en-US" sz="2800" dirty="0"/>
              <a:t>Gas concentration below threshold.</a:t>
            </a:r>
          </a:p>
          <a:p>
            <a:r>
              <a:rPr lang="en-US" sz="2800" dirty="0"/>
              <a:t>Green LED remains ON.</a:t>
            </a:r>
          </a:p>
          <a:p>
            <a:r>
              <a:rPr lang="en-US" sz="2800" dirty="0"/>
              <a:t>Buzzer remains OFF.</a:t>
            </a:r>
          </a:p>
          <a:p>
            <a:pPr marL="457200" indent="-457200" algn="l">
              <a:lnSpc>
                <a:spcPct val="100000"/>
              </a:lnSpc>
              <a:spcBef>
                <a:spcPts val="0"/>
              </a:spcBef>
              <a:spcAft>
                <a:spcPts val="0"/>
              </a:spcAft>
              <a:buFont typeface="Arial" pitchFamily="34" charset="0"/>
              <a:buChar char="•"/>
            </a:pPr>
            <a:endParaRPr lang="zh-CN" altLang="en-US" sz="2800" b="0" i="0" u="none" strike="noStrike" kern="1200" cap="none" spc="0" baseline="0" dirty="0">
              <a:solidFill>
                <a:schemeClr val="tx1"/>
              </a:solidFill>
              <a:latin typeface="Calibri" charset="0"/>
              <a:ea typeface="宋体" charset="0"/>
              <a:cs typeface="Calibri" charset="0"/>
            </a:endParaRPr>
          </a:p>
        </p:txBody>
      </p:sp>
      <p:sp>
        <p:nvSpPr>
          <p:cNvPr id="110" name="Rectangle"/>
          <p:cNvSpPr>
            <a:spLocks/>
          </p:cNvSpPr>
          <p:nvPr/>
        </p:nvSpPr>
        <p:spPr>
          <a:xfrm>
            <a:off x="9339852" y="7124701"/>
            <a:ext cx="8414748" cy="252376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2800" b="1" dirty="0"/>
              <a:t>Leakage Condition</a:t>
            </a:r>
          </a:p>
          <a:p>
            <a:r>
              <a:rPr lang="en-US" sz="2800" dirty="0"/>
              <a:t>Gas concentration exceeds threshold.</a:t>
            </a:r>
          </a:p>
          <a:p>
            <a:r>
              <a:rPr lang="en-US" sz="2800" dirty="0"/>
              <a:t>Red LED turns ON.</a:t>
            </a:r>
          </a:p>
          <a:p>
            <a:r>
              <a:rPr lang="en-US" sz="2800" dirty="0"/>
              <a:t>Buzzer sounds immediately.</a:t>
            </a:r>
          </a:p>
          <a:p>
            <a:r>
              <a:rPr lang="en-US" sz="2800" dirty="0"/>
              <a:t>User is alerted to potential danger.</a:t>
            </a:r>
          </a:p>
          <a:p>
            <a:pPr marL="0" indent="0" algn="l">
              <a:lnSpc>
                <a:spcPct val="100000"/>
              </a:lnSpc>
              <a:spcBef>
                <a:spcPts val="0"/>
              </a:spcBef>
              <a:spcAft>
                <a:spcPts val="0"/>
              </a:spcAft>
              <a:buNone/>
            </a:pPr>
            <a:endParaRPr lang="zh-CN" altLang="en-US" sz="1800" b="0" i="0" u="none" strike="noStrike" kern="1200" cap="none" spc="0" baseline="0" dirty="0">
              <a:solidFill>
                <a:schemeClr val="tx1"/>
              </a:solidFill>
              <a:latin typeface="Calibri" charset="0"/>
              <a:ea typeface="宋体" charset="0"/>
              <a:cs typeface="Calibri" charset="0"/>
            </a:endParaRPr>
          </a:p>
        </p:txBody>
      </p:sp>
      <p:pic>
        <p:nvPicPr>
          <p:cNvPr id="9" name="Picture 8" descr="idti1.jpeg"/>
          <p:cNvPicPr>
            <a:picLocks noChangeAspect="1"/>
          </p:cNvPicPr>
          <p:nvPr/>
        </p:nvPicPr>
        <p:blipFill>
          <a:blip r:embed="rId4" cstate="print"/>
          <a:stretch>
            <a:fillRect/>
          </a:stretch>
        </p:blipFill>
        <p:spPr>
          <a:xfrm>
            <a:off x="430790" y="2335110"/>
            <a:ext cx="6624920" cy="4176580"/>
          </a:xfrm>
          <a:prstGeom prst="rect">
            <a:avLst/>
          </a:prstGeom>
        </p:spPr>
      </p:pic>
      <p:pic>
        <p:nvPicPr>
          <p:cNvPr id="10" name="Picture 9" descr="idti2.jpeg"/>
          <p:cNvPicPr>
            <a:picLocks noChangeAspect="1"/>
          </p:cNvPicPr>
          <p:nvPr/>
        </p:nvPicPr>
        <p:blipFill>
          <a:blip r:embed="rId5" cstate="print"/>
          <a:stretch>
            <a:fillRect/>
          </a:stretch>
        </p:blipFill>
        <p:spPr>
          <a:xfrm>
            <a:off x="9432040" y="2263100"/>
            <a:ext cx="7201000" cy="4248590"/>
          </a:xfrm>
          <a:prstGeom prst="rect">
            <a:avLst/>
          </a:prstGeom>
        </p:spPr>
      </p:pic>
    </p:spTree>
    <p:extLst>
      <p:ext uri="{BB962C8B-B14F-4D97-AF65-F5344CB8AC3E}">
        <p14:creationId xmlns:p14="http://schemas.microsoft.com/office/powerpoint/2010/main" val="850434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1" name="Straight line"/>
          <p:cNvSpPr>
            <a:spLocks/>
          </p:cNvSpPr>
          <p:nvPr/>
        </p:nvSpPr>
        <p:spPr>
          <a:xfrm flipV="1">
            <a:off x="15239" y="2019300"/>
            <a:ext cx="17865820" cy="0"/>
          </a:xfrm>
          <a:prstGeom prst="line">
            <a:avLst/>
          </a:prstGeom>
          <a:noFill/>
          <a:ln w="38100" cap="flat" cmpd="sng">
            <a:solidFill>
              <a:srgbClr val="000000"/>
            </a:solidFill>
            <a:prstDash val="solid"/>
            <a:round/>
          </a:ln>
        </p:spPr>
      </p:sp>
      <p:pic>
        <p:nvPicPr>
          <p:cNvPr id="112" name="Image"/>
          <p:cNvPicPr>
            <a:picLocks noChangeAspect="1"/>
          </p:cNvPicPr>
          <p:nvPr/>
        </p:nvPicPr>
        <p:blipFill>
          <a:blip r:embed="rId2" cstate="print"/>
          <a:stretch>
            <a:fillRect/>
          </a:stretch>
        </p:blipFill>
        <p:spPr>
          <a:xfrm>
            <a:off x="16916400" y="9182100"/>
            <a:ext cx="1371600" cy="1104899"/>
          </a:xfrm>
          <a:prstGeom prst="rect">
            <a:avLst/>
          </a:prstGeom>
          <a:noFill/>
          <a:ln w="12700" cap="flat" cmpd="sng">
            <a:noFill/>
            <a:prstDash val="solid"/>
            <a:miter/>
          </a:ln>
        </p:spPr>
      </p:pic>
      <p:sp>
        <p:nvSpPr>
          <p:cNvPr id="113" name="Oval" descr="Your startup LOGO"/>
          <p:cNvSpPr>
            <a:spLocks/>
          </p:cNvSpPr>
          <p:nvPr/>
        </p:nvSpPr>
        <p:spPr>
          <a:xfrm>
            <a:off x="558374" y="369830"/>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114" name="曲线"/>
          <p:cNvSpPr>
            <a:spLocks/>
          </p:cNvSpPr>
          <p:nvPr/>
        </p:nvSpPr>
        <p:spPr>
          <a:xfrm>
            <a:off x="152400" y="9182100"/>
            <a:ext cx="2337225" cy="906054"/>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3" cstate="print"/>
            <a:stretch/>
          </a:blipFill>
          <a:ln cap="flat" cmpd="sng">
            <a:noFill/>
            <a:prstDash val="solid"/>
            <a:miter/>
          </a:ln>
        </p:spPr>
      </p:sp>
      <p:sp>
        <p:nvSpPr>
          <p:cNvPr id="115" name="Rectangle"/>
          <p:cNvSpPr>
            <a:spLocks/>
          </p:cNvSpPr>
          <p:nvPr/>
        </p:nvSpPr>
        <p:spPr>
          <a:xfrm>
            <a:off x="4572000" y="723900"/>
            <a:ext cx="10711450" cy="1143000"/>
          </a:xfrm>
          <a:prstGeom prst="rect">
            <a:avLst/>
          </a:prstGeom>
          <a:noFill/>
          <a:ln w="12700" cap="flat" cmpd="sng">
            <a:noFill/>
            <a:prstDash val="solid"/>
            <a:miter/>
          </a:ln>
        </p:spPr>
      </p:sp>
      <p:sp>
        <p:nvSpPr>
          <p:cNvPr id="117" name="Rectangle"/>
          <p:cNvSpPr>
            <a:spLocks/>
          </p:cNvSpPr>
          <p:nvPr/>
        </p:nvSpPr>
        <p:spPr>
          <a:xfrm>
            <a:off x="1078881" y="3055210"/>
            <a:ext cx="6696930" cy="403187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3200" b="1" dirty="0"/>
              <a:t>Prototype Components</a:t>
            </a:r>
          </a:p>
          <a:p>
            <a:r>
              <a:rPr lang="en-US" sz="3200" dirty="0"/>
              <a:t>MQ-2 Gas Sensor</a:t>
            </a:r>
          </a:p>
          <a:p>
            <a:r>
              <a:rPr lang="en-US" sz="3200" dirty="0" err="1"/>
              <a:t>Arduino</a:t>
            </a:r>
            <a:r>
              <a:rPr lang="en-US" sz="3200" dirty="0"/>
              <a:t> Uno </a:t>
            </a:r>
            <a:r>
              <a:rPr lang="en-US" sz="3200"/>
              <a:t>/ ESP32 </a:t>
            </a:r>
            <a:endParaRPr lang="en-US" sz="3200" dirty="0"/>
          </a:p>
          <a:p>
            <a:r>
              <a:rPr lang="en-US" sz="3200" dirty="0"/>
              <a:t>Buzzer</a:t>
            </a:r>
          </a:p>
          <a:p>
            <a:r>
              <a:rPr lang="en-US" sz="3200" dirty="0"/>
              <a:t>LEDs</a:t>
            </a:r>
          </a:p>
          <a:p>
            <a:r>
              <a:rPr lang="en-US" sz="3200" dirty="0"/>
              <a:t>Breadboard and Connecting Wires</a:t>
            </a:r>
          </a:p>
          <a:p>
            <a:r>
              <a:rPr lang="en-US" sz="3200" dirty="0"/>
              <a:t>Power Supply</a:t>
            </a:r>
          </a:p>
          <a:p>
            <a:pPr marL="0" indent="0" algn="l">
              <a:lnSpc>
                <a:spcPct val="100000"/>
              </a:lnSpc>
              <a:spcBef>
                <a:spcPts val="0"/>
              </a:spcBef>
              <a:spcAft>
                <a:spcPts val="0"/>
              </a:spcAft>
              <a:buNone/>
            </a:pPr>
            <a:endParaRPr lang="zh-CN" altLang="en-US" sz="3200" b="0" i="0" u="none" strike="noStrike" kern="1200" cap="none" spc="0" baseline="0" dirty="0">
              <a:solidFill>
                <a:schemeClr val="tx1"/>
              </a:solidFill>
              <a:latin typeface="Calibri" charset="0"/>
              <a:ea typeface="宋体" charset="0"/>
              <a:cs typeface="Calibri" charset="0"/>
            </a:endParaRPr>
          </a:p>
        </p:txBody>
      </p:sp>
      <p:sp>
        <p:nvSpPr>
          <p:cNvPr id="9" name="TextBox 8"/>
          <p:cNvSpPr txBox="1"/>
          <p:nvPr/>
        </p:nvSpPr>
        <p:spPr>
          <a:xfrm>
            <a:off x="3527220" y="750890"/>
            <a:ext cx="10729490" cy="1077218"/>
          </a:xfrm>
          <a:prstGeom prst="rect">
            <a:avLst/>
          </a:prstGeom>
          <a:noFill/>
        </p:spPr>
        <p:txBody>
          <a:bodyPr wrap="square" rtlCol="0">
            <a:spAutoFit/>
          </a:bodyPr>
          <a:lstStyle/>
          <a:p>
            <a:r>
              <a:rPr lang="en-US" altLang="zh-CN" sz="3200" b="1" dirty="0">
                <a:latin typeface="Times New Roman" pitchFamily="18" charset="0"/>
                <a:ea typeface="ＭＳ Ｐゴシック" pitchFamily="1" charset="-128"/>
                <a:cs typeface="Times New Roman" pitchFamily="18" charset="0"/>
              </a:rPr>
              <a:t>WORKING PROTOTYPE AND SYSTEM OUTPUT</a:t>
            </a:r>
            <a:endParaRPr lang="zh-CN" altLang="en-US" sz="3200" b="1" dirty="0">
              <a:latin typeface="Times New Roman" pitchFamily="18" charset="0"/>
              <a:ea typeface="ＭＳ Ｐゴシック" pitchFamily="1" charset="-128"/>
              <a:cs typeface="Times New Roman" pitchFamily="18" charset="0"/>
            </a:endParaRPr>
          </a:p>
          <a:p>
            <a:endParaRPr lang="en-US" sz="3200" dirty="0"/>
          </a:p>
        </p:txBody>
      </p:sp>
      <p:pic>
        <p:nvPicPr>
          <p:cNvPr id="3" name="Picture 2">
            <a:extLst>
              <a:ext uri="{FF2B5EF4-FFF2-40B4-BE49-F238E27FC236}">
                <a16:creationId xmlns:a16="http://schemas.microsoft.com/office/drawing/2014/main" id="{4D51D2C8-E75E-F5FF-064A-F67F4F364F15}"/>
              </a:ext>
            </a:extLst>
          </p:cNvPr>
          <p:cNvPicPr>
            <a:picLocks noChangeAspect="1"/>
          </p:cNvPicPr>
          <p:nvPr/>
        </p:nvPicPr>
        <p:blipFill>
          <a:blip r:embed="rId4"/>
          <a:stretch>
            <a:fillRect/>
          </a:stretch>
        </p:blipFill>
        <p:spPr>
          <a:xfrm>
            <a:off x="8423900" y="2335110"/>
            <a:ext cx="9448724" cy="6301641"/>
          </a:xfrm>
          <a:prstGeom prst="rect">
            <a:avLst/>
          </a:prstGeom>
        </p:spPr>
      </p:pic>
    </p:spTree>
    <p:extLst>
      <p:ext uri="{BB962C8B-B14F-4D97-AF65-F5344CB8AC3E}">
        <p14:creationId xmlns:p14="http://schemas.microsoft.com/office/powerpoint/2010/main" val="1216944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 name="Straight line"/>
          <p:cNvSpPr>
            <a:spLocks/>
          </p:cNvSpPr>
          <p:nvPr/>
        </p:nvSpPr>
        <p:spPr>
          <a:xfrm flipV="1">
            <a:off x="15239" y="2019300"/>
            <a:ext cx="17865820" cy="0"/>
          </a:xfrm>
          <a:prstGeom prst="line">
            <a:avLst/>
          </a:prstGeom>
          <a:noFill/>
          <a:ln w="38100" cap="flat" cmpd="sng">
            <a:solidFill>
              <a:srgbClr val="000000"/>
            </a:solidFill>
            <a:prstDash val="solid"/>
            <a:round/>
          </a:ln>
        </p:spPr>
      </p:sp>
      <p:pic>
        <p:nvPicPr>
          <p:cNvPr id="121" name="Image"/>
          <p:cNvPicPr>
            <a:picLocks noChangeAspect="1"/>
          </p:cNvPicPr>
          <p:nvPr/>
        </p:nvPicPr>
        <p:blipFill>
          <a:blip r:embed="rId2" cstate="print"/>
          <a:stretch>
            <a:fillRect/>
          </a:stretch>
        </p:blipFill>
        <p:spPr>
          <a:xfrm>
            <a:off x="16916400" y="8953500"/>
            <a:ext cx="1371600" cy="1320910"/>
          </a:xfrm>
          <a:prstGeom prst="rect">
            <a:avLst/>
          </a:prstGeom>
          <a:noFill/>
          <a:ln w="12700" cap="flat" cmpd="sng">
            <a:noFill/>
            <a:prstDash val="solid"/>
            <a:miter/>
          </a:ln>
        </p:spPr>
      </p:pic>
      <p:sp>
        <p:nvSpPr>
          <p:cNvPr id="122" name="Oval" descr="Your startup LOGO"/>
          <p:cNvSpPr>
            <a:spLocks/>
          </p:cNvSpPr>
          <p:nvPr/>
        </p:nvSpPr>
        <p:spPr>
          <a:xfrm>
            <a:off x="558374" y="449966"/>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123" name="曲线"/>
          <p:cNvSpPr>
            <a:spLocks/>
          </p:cNvSpPr>
          <p:nvPr/>
        </p:nvSpPr>
        <p:spPr>
          <a:xfrm>
            <a:off x="152400" y="9266646"/>
            <a:ext cx="2337225" cy="906053"/>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3" cstate="print"/>
            <a:stretch/>
          </a:blipFill>
          <a:ln cap="flat" cmpd="sng">
            <a:noFill/>
            <a:prstDash val="solid"/>
            <a:miter/>
          </a:ln>
        </p:spPr>
      </p:sp>
      <p:sp>
        <p:nvSpPr>
          <p:cNvPr id="124" name="Rectangle"/>
          <p:cNvSpPr>
            <a:spLocks/>
          </p:cNvSpPr>
          <p:nvPr/>
        </p:nvSpPr>
        <p:spPr>
          <a:xfrm>
            <a:off x="3657600" y="361948"/>
            <a:ext cx="10972800" cy="114300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0" indent="0" algn="ctr" eaLnBrk="1" latinLnBrk="0" hangingPunct="1">
              <a:lnSpc>
                <a:spcPct val="100000"/>
              </a:lnSpc>
              <a:spcBef>
                <a:spcPts val="0"/>
              </a:spcBef>
              <a:spcAft>
                <a:spcPts val="0"/>
              </a:spcAft>
              <a:buNone/>
            </a:pPr>
            <a:r>
              <a:rPr lang="en-US" altLang="zh-CN" sz="4400" b="1" i="0" u="none" strike="noStrike" kern="1200" cap="none" spc="0" baseline="0">
                <a:solidFill>
                  <a:schemeClr val="tx1"/>
                </a:solidFill>
                <a:latin typeface="Times New Roman" pitchFamily="18" charset="0"/>
                <a:ea typeface="ＭＳ Ｐゴシック" pitchFamily="1" charset="-128"/>
                <a:cs typeface="Times New Roman" pitchFamily="18" charset="0"/>
              </a:rPr>
              <a:t>IMPACT AND BENEFITS</a:t>
            </a:r>
            <a:endParaRPr lang="zh-CN" altLang="en-US" sz="4400" b="1" i="0" u="none" strike="noStrike" kern="1200" cap="none" spc="0" baseline="0">
              <a:solidFill>
                <a:schemeClr val="tx1"/>
              </a:solidFill>
              <a:latin typeface="Times New Roman" pitchFamily="18" charset="0"/>
              <a:ea typeface="ＭＳ Ｐゴシック" pitchFamily="1" charset="-128"/>
              <a:cs typeface="Times New Roman" pitchFamily="18" charset="0"/>
            </a:endParaRPr>
          </a:p>
        </p:txBody>
      </p:sp>
      <p:sp>
        <p:nvSpPr>
          <p:cNvPr id="125" name="Rectangle"/>
          <p:cNvSpPr>
            <a:spLocks/>
          </p:cNvSpPr>
          <p:nvPr/>
        </p:nvSpPr>
        <p:spPr>
          <a:xfrm>
            <a:off x="502800" y="2315587"/>
            <a:ext cx="8488800" cy="7971413"/>
          </a:xfrm>
          <a:prstGeom prst="rect">
            <a:avLst/>
          </a:prstGeom>
          <a:noFill/>
          <a:ln w="9525" cap="flat" cmpd="sng">
            <a:noFill/>
            <a:prstDash val="solid"/>
            <a:miter/>
          </a:ln>
        </p:spPr>
        <p:txBody>
          <a:bodyPr vert="horz" wrap="square" lIns="91440" tIns="45720" rIns="91440" bIns="45720" anchor="t" anchorCtr="0">
            <a:prstTxWarp prst="textNoShape">
              <a:avLst/>
            </a:prstTxWarp>
            <a:spAutoFit/>
          </a:bodyPr>
          <a:lstStyle/>
          <a:p>
            <a:pPr marL="342900" indent="-342900" algn="just" defTabSz="457200" fontAlgn="base">
              <a:lnSpc>
                <a:spcPct val="100000"/>
              </a:lnSpc>
              <a:spcBef>
                <a:spcPts val="0"/>
              </a:spcBef>
              <a:spcAft>
                <a:spcPts val="0"/>
              </a:spcAft>
              <a:buFont typeface="Arial" pitchFamily="34" charset="0"/>
              <a:buChar char="•"/>
            </a:pPr>
            <a:r>
              <a:rPr lang="zh-CN" altLang="en-US" sz="3200" b="0" i="0" u="none" strike="noStrike" kern="1200" cap="none" spc="0" baseline="0" dirty="0">
                <a:solidFill>
                  <a:srgbClr val="000000"/>
                </a:solidFill>
                <a:latin typeface="Arial" pitchFamily="34" charset="0"/>
                <a:ea typeface="宋体" charset="0"/>
                <a:cs typeface="Arial" pitchFamily="34" charset="0"/>
              </a:rPr>
              <a:t>🌍 Impact</a:t>
            </a:r>
            <a:endParaRPr lang="en-US" sz="3200" dirty="0"/>
          </a:p>
          <a:p>
            <a:pPr marL="342900" indent="-342900" algn="just" defTabSz="457200" fontAlgn="base">
              <a:lnSpc>
                <a:spcPct val="100000"/>
              </a:lnSpc>
              <a:spcBef>
                <a:spcPts val="0"/>
              </a:spcBef>
              <a:spcAft>
                <a:spcPts val="0"/>
              </a:spcAft>
              <a:buFont typeface="Arial" pitchFamily="34" charset="0"/>
              <a:buChar char="•"/>
            </a:pPr>
            <a:r>
              <a:rPr lang="en-US" sz="3200" dirty="0"/>
              <a:t>Enhances public safety and accident prevention. </a:t>
            </a:r>
          </a:p>
          <a:p>
            <a:pPr marL="342900" indent="-342900" algn="just" defTabSz="457200" fontAlgn="base">
              <a:lnSpc>
                <a:spcPct val="100000"/>
              </a:lnSpc>
              <a:spcBef>
                <a:spcPts val="0"/>
              </a:spcBef>
              <a:spcAft>
                <a:spcPts val="0"/>
              </a:spcAft>
              <a:buFont typeface="Arial" pitchFamily="34" charset="0"/>
              <a:buChar char="•"/>
            </a:pPr>
            <a:r>
              <a:rPr lang="en-US" sz="3200" dirty="0"/>
              <a:t>Reduces risk of fire outbreaks and explosions. </a:t>
            </a:r>
          </a:p>
          <a:p>
            <a:pPr marL="342900" indent="-342900" algn="just" defTabSz="457200" fontAlgn="base">
              <a:lnSpc>
                <a:spcPct val="100000"/>
              </a:lnSpc>
              <a:spcBef>
                <a:spcPts val="0"/>
              </a:spcBef>
              <a:spcAft>
                <a:spcPts val="0"/>
              </a:spcAft>
              <a:buFont typeface="Arial" pitchFamily="34" charset="0"/>
              <a:buChar char="•"/>
            </a:pPr>
            <a:r>
              <a:rPr lang="en-US" sz="3200" dirty="0"/>
              <a:t>Protects lives in residential and industrial environments. </a:t>
            </a:r>
          </a:p>
          <a:p>
            <a:pPr marL="342900" indent="-342900" algn="just" defTabSz="457200" fontAlgn="base">
              <a:lnSpc>
                <a:spcPct val="100000"/>
              </a:lnSpc>
              <a:spcBef>
                <a:spcPts val="0"/>
              </a:spcBef>
              <a:spcAft>
                <a:spcPts val="0"/>
              </a:spcAft>
              <a:buFont typeface="Arial" pitchFamily="34" charset="0"/>
              <a:buChar char="•"/>
            </a:pPr>
            <a:r>
              <a:rPr lang="en-US" sz="3200" dirty="0"/>
              <a:t>Promotes awareness about gas safety practices. </a:t>
            </a:r>
          </a:p>
          <a:p>
            <a:pPr marL="342900" indent="-342900" algn="just" defTabSz="457200" fontAlgn="base">
              <a:lnSpc>
                <a:spcPct val="100000"/>
              </a:lnSpc>
              <a:spcBef>
                <a:spcPts val="0"/>
              </a:spcBef>
              <a:spcAft>
                <a:spcPts val="0"/>
              </a:spcAft>
              <a:buFont typeface="Arial" pitchFamily="34" charset="0"/>
              <a:buChar char="•"/>
            </a:pPr>
            <a:r>
              <a:rPr lang="en-US" sz="3200" dirty="0"/>
              <a:t>Encourages adoption of smart safety technologies. </a:t>
            </a:r>
          </a:p>
          <a:p>
            <a:pPr marL="342900" indent="-342900" algn="just" defTabSz="457200" fontAlgn="base">
              <a:lnSpc>
                <a:spcPct val="100000"/>
              </a:lnSpc>
              <a:spcBef>
                <a:spcPts val="0"/>
              </a:spcBef>
              <a:spcAft>
                <a:spcPts val="0"/>
              </a:spcAft>
              <a:buFont typeface="Arial" pitchFamily="34" charset="0"/>
              <a:buChar char="•"/>
            </a:pPr>
            <a:r>
              <a:rPr lang="en-US" sz="3200" dirty="0"/>
              <a:t>Supports safer workplaces and homes. </a:t>
            </a:r>
          </a:p>
          <a:p>
            <a:pPr marL="342900" indent="-342900" algn="just" defTabSz="457200" fontAlgn="base">
              <a:lnSpc>
                <a:spcPct val="100000"/>
              </a:lnSpc>
              <a:spcBef>
                <a:spcPts val="0"/>
              </a:spcBef>
              <a:spcAft>
                <a:spcPts val="0"/>
              </a:spcAft>
              <a:buFont typeface="Arial" pitchFamily="34" charset="0"/>
              <a:buChar char="•"/>
            </a:pPr>
            <a:r>
              <a:rPr lang="en-US" sz="3200" dirty="0"/>
              <a:t>Minimizes property damage caused by gas leaks. </a:t>
            </a:r>
          </a:p>
          <a:p>
            <a:pPr marL="342900" indent="-342900" algn="just" defTabSz="457200" fontAlgn="base">
              <a:lnSpc>
                <a:spcPct val="100000"/>
              </a:lnSpc>
              <a:spcBef>
                <a:spcPts val="0"/>
              </a:spcBef>
              <a:spcAft>
                <a:spcPts val="0"/>
              </a:spcAft>
              <a:buFont typeface="Arial" pitchFamily="34" charset="0"/>
              <a:buChar char="•"/>
            </a:pPr>
            <a:r>
              <a:rPr lang="en-US" sz="3200" dirty="0"/>
              <a:t>Contributes to a safer and more secure community.</a:t>
            </a:r>
            <a:endParaRPr lang="en-US" altLang="zh-CN" sz="3200" b="0" i="0" u="none" strike="noStrike" kern="1200" cap="none" spc="0" baseline="0" dirty="0">
              <a:solidFill>
                <a:srgbClr val="000000"/>
              </a:solidFill>
              <a:latin typeface="Arial" pitchFamily="34" charset="0"/>
              <a:ea typeface="宋体" charset="0"/>
              <a:cs typeface="Arial" pitchFamily="34" charset="0"/>
            </a:endParaRPr>
          </a:p>
        </p:txBody>
      </p:sp>
      <p:sp>
        <p:nvSpPr>
          <p:cNvPr id="126" name="Rectangle"/>
          <p:cNvSpPr>
            <a:spLocks/>
          </p:cNvSpPr>
          <p:nvPr/>
        </p:nvSpPr>
        <p:spPr>
          <a:xfrm>
            <a:off x="10439400" y="2476500"/>
            <a:ext cx="6705599" cy="7263527"/>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342900" indent="-342900" algn="just" defTabSz="457200" fontAlgn="base">
              <a:lnSpc>
                <a:spcPct val="100000"/>
              </a:lnSpc>
              <a:spcBef>
                <a:spcPts val="0"/>
              </a:spcBef>
              <a:spcAft>
                <a:spcPts val="0"/>
              </a:spcAft>
              <a:buFont typeface="Arial" pitchFamily="34" charset="0"/>
              <a:buChar char="•"/>
            </a:pPr>
            <a:r>
              <a:rPr lang="en-US" altLang="zh-CN" sz="3200" b="0" i="0" u="none" strike="noStrike" kern="1200" cap="none" spc="0" baseline="0" dirty="0">
                <a:solidFill>
                  <a:srgbClr val="000000"/>
                </a:solidFill>
                <a:latin typeface="Arial" pitchFamily="34" charset="0"/>
                <a:ea typeface="宋体" charset="0"/>
                <a:cs typeface="Arial" pitchFamily="34" charset="0"/>
              </a:rPr>
              <a:t>✅ Benefits</a:t>
            </a:r>
          </a:p>
          <a:p>
            <a:pPr marL="342900" indent="-342900" algn="just" defTabSz="457200" fontAlgn="base">
              <a:lnSpc>
                <a:spcPct val="100000"/>
              </a:lnSpc>
              <a:spcBef>
                <a:spcPts val="0"/>
              </a:spcBef>
              <a:spcAft>
                <a:spcPts val="0"/>
              </a:spcAft>
              <a:buFont typeface="Arial" pitchFamily="34" charset="0"/>
              <a:buChar char="•"/>
            </a:pPr>
            <a:r>
              <a:rPr lang="en-US" sz="3200" dirty="0"/>
              <a:t>Detects gas leakage in real time. </a:t>
            </a:r>
          </a:p>
          <a:p>
            <a:pPr marL="342900" indent="-342900" algn="just" defTabSz="457200" fontAlgn="base">
              <a:lnSpc>
                <a:spcPct val="100000"/>
              </a:lnSpc>
              <a:spcBef>
                <a:spcPts val="0"/>
              </a:spcBef>
              <a:spcAft>
                <a:spcPts val="0"/>
              </a:spcAft>
              <a:buFont typeface="Arial" pitchFamily="34" charset="0"/>
              <a:buChar char="•"/>
            </a:pPr>
            <a:r>
              <a:rPr lang="en-US" sz="3200" dirty="0"/>
              <a:t>Provides immediate audio and visual alerts. </a:t>
            </a:r>
          </a:p>
          <a:p>
            <a:pPr marL="342900" indent="-342900" algn="just" defTabSz="457200" fontAlgn="base">
              <a:lnSpc>
                <a:spcPct val="100000"/>
              </a:lnSpc>
              <a:spcBef>
                <a:spcPts val="0"/>
              </a:spcBef>
              <a:spcAft>
                <a:spcPts val="0"/>
              </a:spcAft>
              <a:buFont typeface="Arial" pitchFamily="34" charset="0"/>
              <a:buChar char="•"/>
            </a:pPr>
            <a:r>
              <a:rPr lang="en-US" sz="3200" dirty="0"/>
              <a:t>Low-cost and easy-to-implement solution. </a:t>
            </a:r>
          </a:p>
          <a:p>
            <a:pPr marL="342900" indent="-342900" algn="just" defTabSz="457200" fontAlgn="base">
              <a:lnSpc>
                <a:spcPct val="100000"/>
              </a:lnSpc>
              <a:spcBef>
                <a:spcPts val="0"/>
              </a:spcBef>
              <a:spcAft>
                <a:spcPts val="0"/>
              </a:spcAft>
              <a:buFont typeface="Arial" pitchFamily="34" charset="0"/>
              <a:buChar char="•"/>
            </a:pPr>
            <a:r>
              <a:rPr lang="en-US" sz="3200" dirty="0"/>
              <a:t>Requires minimal maintenance. </a:t>
            </a:r>
          </a:p>
          <a:p>
            <a:pPr marL="342900" indent="-342900" algn="just" defTabSz="457200" fontAlgn="base">
              <a:lnSpc>
                <a:spcPct val="100000"/>
              </a:lnSpc>
              <a:spcBef>
                <a:spcPts val="0"/>
              </a:spcBef>
              <a:spcAft>
                <a:spcPts val="0"/>
              </a:spcAft>
              <a:buFont typeface="Arial" pitchFamily="34" charset="0"/>
              <a:buChar char="•"/>
            </a:pPr>
            <a:r>
              <a:rPr lang="en-US" sz="3200" dirty="0"/>
              <a:t>Compact and portable design. </a:t>
            </a:r>
          </a:p>
          <a:p>
            <a:pPr marL="342900" indent="-342900" algn="just" defTabSz="457200" fontAlgn="base">
              <a:lnSpc>
                <a:spcPct val="100000"/>
              </a:lnSpc>
              <a:spcBef>
                <a:spcPts val="0"/>
              </a:spcBef>
              <a:spcAft>
                <a:spcPts val="0"/>
              </a:spcAft>
              <a:buFont typeface="Arial" pitchFamily="34" charset="0"/>
              <a:buChar char="•"/>
            </a:pPr>
            <a:r>
              <a:rPr lang="en-US" sz="3200" dirty="0"/>
              <a:t>Operates continuously for 24/7 monitoring. </a:t>
            </a:r>
          </a:p>
          <a:p>
            <a:pPr marL="342900" indent="-342900" algn="just" defTabSz="457200" fontAlgn="base">
              <a:lnSpc>
                <a:spcPct val="100000"/>
              </a:lnSpc>
              <a:spcBef>
                <a:spcPts val="0"/>
              </a:spcBef>
              <a:spcAft>
                <a:spcPts val="0"/>
              </a:spcAft>
              <a:buFont typeface="Arial" pitchFamily="34" charset="0"/>
              <a:buChar char="•"/>
            </a:pPr>
            <a:r>
              <a:rPr lang="en-US" sz="3200" dirty="0"/>
              <a:t>Easy installation in homes, hotels, and industries. </a:t>
            </a:r>
          </a:p>
          <a:p>
            <a:pPr marL="342900" indent="-342900" algn="just" defTabSz="457200" fontAlgn="base">
              <a:lnSpc>
                <a:spcPct val="100000"/>
              </a:lnSpc>
              <a:spcBef>
                <a:spcPts val="0"/>
              </a:spcBef>
              <a:spcAft>
                <a:spcPts val="0"/>
              </a:spcAft>
              <a:buFont typeface="Arial" pitchFamily="34" charset="0"/>
              <a:buChar char="•"/>
            </a:pPr>
            <a:r>
              <a:rPr lang="en-US" sz="3200" dirty="0"/>
              <a:t>Reduces emergency response time.</a:t>
            </a:r>
            <a:endParaRPr lang="en-US" altLang="zh-CN" sz="3200" b="0" i="0" u="none" strike="noStrike" kern="1200" cap="none" spc="0" baseline="0" dirty="0">
              <a:solidFill>
                <a:srgbClr val="000000"/>
              </a:solidFill>
              <a:latin typeface="Arial" pitchFamily="34" charset="0"/>
              <a:ea typeface="宋体" charset="0"/>
              <a:cs typeface="Arial" pitchFamily="34" charset="0"/>
            </a:endParaRPr>
          </a:p>
          <a:p>
            <a:pPr marL="0" indent="0" algn="l">
              <a:lnSpc>
                <a:spcPct val="100000"/>
              </a:lnSpc>
              <a:spcBef>
                <a:spcPts val="0"/>
              </a:spcBef>
              <a:spcAft>
                <a:spcPts val="0"/>
              </a:spcAft>
              <a:buNone/>
            </a:pPr>
            <a:endParaRPr lang="zh-CN" altLang="en-US" sz="1800" b="0" i="0" u="none" strike="noStrike" kern="1200" cap="none" spc="0" baseline="0" dirty="0">
              <a:solidFill>
                <a:schemeClr val="tx1"/>
              </a:solidFill>
              <a:latin typeface="Calibri" charset="0"/>
              <a:ea typeface="宋体" charset="0"/>
              <a:cs typeface="Calibri" charset="0"/>
            </a:endParaRPr>
          </a:p>
        </p:txBody>
      </p:sp>
      <p:sp>
        <p:nvSpPr>
          <p:cNvPr id="127" name="Straight line"/>
          <p:cNvSpPr>
            <a:spLocks/>
          </p:cNvSpPr>
          <p:nvPr/>
        </p:nvSpPr>
        <p:spPr>
          <a:xfrm>
            <a:off x="9601200" y="2019300"/>
            <a:ext cx="0" cy="8267700"/>
          </a:xfrm>
          <a:prstGeom prst="line">
            <a:avLst/>
          </a:prstGeom>
          <a:noFill/>
          <a:ln w="9525" cap="flat" cmpd="sng">
            <a:solidFill>
              <a:srgbClr val="000000"/>
            </a:solidFill>
            <a:prstDash val="solid"/>
            <a:round/>
          </a:ln>
        </p:spPr>
      </p:sp>
    </p:spTree>
    <p:extLst>
      <p:ext uri="{BB962C8B-B14F-4D97-AF65-F5344CB8AC3E}">
        <p14:creationId xmlns:p14="http://schemas.microsoft.com/office/powerpoint/2010/main" val="1064381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 name="Oval" descr="Your startup LOGO"/>
          <p:cNvSpPr>
            <a:spLocks/>
          </p:cNvSpPr>
          <p:nvPr/>
        </p:nvSpPr>
        <p:spPr>
          <a:xfrm>
            <a:off x="558374" y="369830"/>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129" name="Straight line"/>
          <p:cNvSpPr>
            <a:spLocks/>
          </p:cNvSpPr>
          <p:nvPr/>
        </p:nvSpPr>
        <p:spPr>
          <a:xfrm flipV="1">
            <a:off x="15239" y="2019300"/>
            <a:ext cx="17865820" cy="0"/>
          </a:xfrm>
          <a:prstGeom prst="line">
            <a:avLst/>
          </a:prstGeom>
          <a:noFill/>
          <a:ln w="38100" cap="flat" cmpd="sng">
            <a:solidFill>
              <a:srgbClr val="000000"/>
            </a:solidFill>
            <a:prstDash val="solid"/>
            <a:round/>
          </a:ln>
        </p:spPr>
      </p:sp>
      <p:sp>
        <p:nvSpPr>
          <p:cNvPr id="130" name="曲线"/>
          <p:cNvSpPr>
            <a:spLocks/>
          </p:cNvSpPr>
          <p:nvPr/>
        </p:nvSpPr>
        <p:spPr>
          <a:xfrm>
            <a:off x="152400" y="9266646"/>
            <a:ext cx="2337225" cy="906053"/>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2" cstate="print"/>
            <a:stretch/>
          </a:blipFill>
          <a:ln cap="flat" cmpd="sng">
            <a:noFill/>
            <a:prstDash val="solid"/>
            <a:miter/>
          </a:ln>
        </p:spPr>
      </p:sp>
      <p:pic>
        <p:nvPicPr>
          <p:cNvPr id="131" name="Image"/>
          <p:cNvPicPr>
            <a:picLocks noChangeAspect="1"/>
          </p:cNvPicPr>
          <p:nvPr/>
        </p:nvPicPr>
        <p:blipFill>
          <a:blip r:embed="rId3" cstate="print"/>
          <a:stretch>
            <a:fillRect/>
          </a:stretch>
        </p:blipFill>
        <p:spPr>
          <a:xfrm>
            <a:off x="16916400" y="8953500"/>
            <a:ext cx="1371600" cy="1320910"/>
          </a:xfrm>
          <a:prstGeom prst="rect">
            <a:avLst/>
          </a:prstGeom>
          <a:noFill/>
          <a:ln w="12700" cap="flat" cmpd="sng">
            <a:noFill/>
            <a:prstDash val="solid"/>
            <a:miter/>
          </a:ln>
        </p:spPr>
      </p:pic>
      <p:sp>
        <p:nvSpPr>
          <p:cNvPr id="132" name="Rectangle"/>
          <p:cNvSpPr>
            <a:spLocks/>
          </p:cNvSpPr>
          <p:nvPr/>
        </p:nvSpPr>
        <p:spPr>
          <a:xfrm>
            <a:off x="5486400" y="495300"/>
            <a:ext cx="6062750" cy="1200329"/>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7200" b="0" i="0" u="none" strike="noStrike" kern="1200" cap="none" spc="0" baseline="0">
                <a:solidFill>
                  <a:schemeClr val="tx1"/>
                </a:solidFill>
                <a:latin typeface="Calibri" charset="0"/>
                <a:ea typeface="宋体" charset="0"/>
                <a:cs typeface="Calibri" charset="0"/>
              </a:rPr>
              <a:t>FUTURE  SCOPE</a:t>
            </a:r>
            <a:endParaRPr lang="zh-CN" altLang="en-US" sz="7200" b="0" i="0" u="none" strike="noStrike" kern="1200" cap="none" spc="0" baseline="0">
              <a:solidFill>
                <a:schemeClr val="tx1"/>
              </a:solidFill>
              <a:latin typeface="Calibri" charset="0"/>
              <a:ea typeface="宋体" charset="0"/>
              <a:cs typeface="Calibri" charset="0"/>
            </a:endParaRPr>
          </a:p>
        </p:txBody>
      </p:sp>
      <p:sp>
        <p:nvSpPr>
          <p:cNvPr id="133" name="Rectangle"/>
          <p:cNvSpPr>
            <a:spLocks/>
          </p:cNvSpPr>
          <p:nvPr/>
        </p:nvSpPr>
        <p:spPr>
          <a:xfrm>
            <a:off x="990600" y="2171700"/>
            <a:ext cx="16306801" cy="64633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endParaRPr lang="zh-CN" altLang="en-US" sz="3600" b="0" i="0" u="none" strike="noStrike" kern="1200" cap="none" spc="0" baseline="0" dirty="0">
              <a:solidFill>
                <a:schemeClr val="tx1"/>
              </a:solidFill>
              <a:latin typeface="Calibri" charset="0"/>
              <a:ea typeface="宋体" charset="0"/>
              <a:cs typeface="Calibri" charset="0"/>
            </a:endParaRPr>
          </a:p>
        </p:txBody>
      </p:sp>
      <p:sp>
        <p:nvSpPr>
          <p:cNvPr id="4097" name="Rectangle 1"/>
          <p:cNvSpPr>
            <a:spLocks noChangeArrowheads="1"/>
          </p:cNvSpPr>
          <p:nvPr/>
        </p:nvSpPr>
        <p:spPr bwMode="auto">
          <a:xfrm>
            <a:off x="358780" y="-13147040"/>
            <a:ext cx="14978080" cy="220060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lang="en-IN" sz="2800" dirty="0">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IN"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Arial" charset="0"/>
                <a:cs typeface="Arial" charset="0"/>
              </a:rPr>
              <a:t>Integration with GSM module for SMS and call alerts during gas leakage.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Arial" charset="0"/>
                <a:cs typeface="Arial" charset="0"/>
              </a:rPr>
              <a:t>Development of a mobile application for remote monitoring.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err="1">
                <a:ln>
                  <a:noFill/>
                </a:ln>
                <a:solidFill>
                  <a:schemeClr val="tx1"/>
                </a:solidFill>
                <a:effectLst/>
                <a:latin typeface="Arial" charset="0"/>
                <a:cs typeface="Arial" charset="0"/>
              </a:rPr>
              <a:t>IoT</a:t>
            </a:r>
            <a:r>
              <a:rPr kumimoji="0" lang="en-US" sz="3200" b="0" i="0" u="none" strike="noStrike" cap="none" normalizeH="0" baseline="0" dirty="0">
                <a:ln>
                  <a:noFill/>
                </a:ln>
                <a:solidFill>
                  <a:schemeClr val="tx1"/>
                </a:solidFill>
                <a:effectLst/>
                <a:latin typeface="Arial" charset="0"/>
                <a:cs typeface="Arial" charset="0"/>
              </a:rPr>
              <a:t>-based real-time monitoring through cloud platforms.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Arial" charset="0"/>
                <a:cs typeface="Arial" charset="0"/>
              </a:rPr>
              <a:t>Automatic gas regulator shut-off system to prevent accidents.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Arial" charset="0"/>
                <a:cs typeface="Arial" charset="0"/>
              </a:rPr>
              <a:t>Support for detecting multiple gases such as LPG, methane, and carbon monoxide.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Arial" charset="0"/>
                <a:cs typeface="Arial" charset="0"/>
              </a:rPr>
              <a:t>Battery backup for uninterrupted operation during power failures.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Arial" charset="0"/>
                <a:cs typeface="Arial" charset="0"/>
              </a:rPr>
              <a:t>Integration with smart home automation systems. </a:t>
            </a:r>
          </a:p>
          <a:p>
            <a:pPr marL="0" marR="0" lvl="0" indent="0" algn="l" defTabSz="914400" rtl="0" eaLnBrk="1" fontAlgn="base" latinLnBrk="0" hangingPunct="1">
              <a:lnSpc>
                <a:spcPct val="100000"/>
              </a:lnSpc>
              <a:spcBef>
                <a:spcPct val="0"/>
              </a:spcBef>
              <a:spcAft>
                <a:spcPct val="0"/>
              </a:spcAft>
              <a:buClrTx/>
              <a:buSzTx/>
              <a:buFontTx/>
              <a:buChar char="•"/>
              <a:tabLst/>
            </a:pPr>
            <a:r>
              <a:rPr kumimoji="0" lang="en-US" sz="3200" b="0" i="0" u="none" strike="noStrike" cap="none" normalizeH="0" baseline="0" dirty="0">
                <a:ln>
                  <a:noFill/>
                </a:ln>
                <a:solidFill>
                  <a:schemeClr val="tx1"/>
                </a:solidFill>
                <a:effectLst/>
                <a:latin typeface="Arial" charset="0"/>
                <a:cs typeface="Arial" charset="0"/>
              </a:rPr>
              <a:t>Addition of LCD/OLED display for live gas concentration monitoring</a:t>
            </a:r>
          </a:p>
          <a:p>
            <a:pPr lvl="0" rtl="0" fontAlgn="base">
              <a:spcBef>
                <a:spcPct val="0"/>
              </a:spcBef>
              <a:spcAft>
                <a:spcPct val="0"/>
              </a:spcAft>
              <a:buFontTx/>
              <a:buChar char="•"/>
            </a:pPr>
            <a:r>
              <a:rPr lang="en-US" sz="3200" dirty="0"/>
              <a:t>Enhanced sensor accuracy using advanced gas sensing technologies. </a:t>
            </a:r>
          </a:p>
          <a:p>
            <a:pPr lvl="0" rtl="0" fontAlgn="base">
              <a:spcBef>
                <a:spcPct val="0"/>
              </a:spcBef>
              <a:spcAft>
                <a:spcPct val="0"/>
              </a:spcAft>
              <a:buFontTx/>
              <a:buChar char="•"/>
            </a:pPr>
            <a:r>
              <a:rPr lang="en-US" sz="3200" dirty="0"/>
              <a:t>Deployment in industries, laboratories, hotels, and commercial kitchens. </a:t>
            </a:r>
          </a:p>
          <a:p>
            <a:pPr lvl="0" rtl="0" fontAlgn="base">
              <a:spcBef>
                <a:spcPct val="0"/>
              </a:spcBef>
              <a:spcAft>
                <a:spcPct val="0"/>
              </a:spcAft>
              <a:buFontTx/>
              <a:buChar char="•"/>
            </a:pPr>
            <a:r>
              <a:rPr lang="en-US" sz="3200" dirty="0"/>
              <a:t>Voice-based warning system for improved user awareness.</a:t>
            </a:r>
          </a:p>
          <a:p>
            <a:pPr lvl="0" rtl="0" fontAlgn="base">
              <a:spcBef>
                <a:spcPct val="0"/>
              </a:spcBef>
              <a:spcAft>
                <a:spcPct val="0"/>
              </a:spcAft>
              <a:buFontTx/>
              <a:buChar char="•"/>
            </a:pPr>
            <a:r>
              <a:rPr lang="en-US" sz="3200" dirty="0"/>
              <a:t> AI-based prediction and analysis of potential gas leakage risks</a:t>
            </a:r>
            <a:r>
              <a:rPr lang="en-US" sz="2800" dirty="0"/>
              <a:t>.</a:t>
            </a:r>
            <a:r>
              <a:rPr kumimoji="0" lang="en-US" sz="2800" b="0" i="0" u="none" strike="noStrike" cap="none" normalizeH="0" baseline="0" dirty="0">
                <a:ln>
                  <a:noFill/>
                </a:ln>
                <a:solidFill>
                  <a:schemeClr val="tx1"/>
                </a:solidFill>
                <a:effectLst/>
                <a:latin typeface="Arial" charset="0"/>
                <a:cs typeface="Arial" charset="0"/>
              </a:rPr>
              <a:t> </a:t>
            </a:r>
          </a:p>
        </p:txBody>
      </p:sp>
    </p:spTree>
    <p:extLst>
      <p:ext uri="{BB962C8B-B14F-4D97-AF65-F5344CB8AC3E}">
        <p14:creationId xmlns:p14="http://schemas.microsoft.com/office/powerpoint/2010/main" val="1122047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2" name="曲线"/>
          <p:cNvSpPr>
            <a:spLocks/>
          </p:cNvSpPr>
          <p:nvPr/>
        </p:nvSpPr>
        <p:spPr>
          <a:xfrm>
            <a:off x="152400" y="9182100"/>
            <a:ext cx="2337225" cy="906054"/>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2" cstate="print"/>
            <a:stretch/>
          </a:blipFill>
          <a:ln cap="flat" cmpd="sng">
            <a:noFill/>
            <a:prstDash val="solid"/>
            <a:miter/>
          </a:ln>
        </p:spPr>
      </p:sp>
      <p:sp>
        <p:nvSpPr>
          <p:cNvPr id="143" name="Oval" descr="Your startup LOGO"/>
          <p:cNvSpPr>
            <a:spLocks/>
          </p:cNvSpPr>
          <p:nvPr/>
        </p:nvSpPr>
        <p:spPr>
          <a:xfrm>
            <a:off x="558374" y="369830"/>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pic>
        <p:nvPicPr>
          <p:cNvPr id="144" name="Image"/>
          <p:cNvPicPr>
            <a:picLocks noChangeAspect="1"/>
          </p:cNvPicPr>
          <p:nvPr/>
        </p:nvPicPr>
        <p:blipFill>
          <a:blip r:embed="rId3" cstate="print"/>
          <a:stretch>
            <a:fillRect/>
          </a:stretch>
        </p:blipFill>
        <p:spPr>
          <a:xfrm>
            <a:off x="16916400" y="8966090"/>
            <a:ext cx="1371600" cy="1320910"/>
          </a:xfrm>
          <a:prstGeom prst="rect">
            <a:avLst/>
          </a:prstGeom>
          <a:noFill/>
          <a:ln w="12700" cap="flat" cmpd="sng">
            <a:noFill/>
            <a:prstDash val="solid"/>
            <a:miter/>
          </a:ln>
        </p:spPr>
      </p:pic>
      <p:sp>
        <p:nvSpPr>
          <p:cNvPr id="145" name="Straight line"/>
          <p:cNvSpPr>
            <a:spLocks/>
          </p:cNvSpPr>
          <p:nvPr/>
        </p:nvSpPr>
        <p:spPr>
          <a:xfrm flipV="1">
            <a:off x="15239" y="2019300"/>
            <a:ext cx="17865820" cy="0"/>
          </a:xfrm>
          <a:prstGeom prst="line">
            <a:avLst/>
          </a:prstGeom>
          <a:noFill/>
          <a:ln w="38100" cap="flat" cmpd="sng">
            <a:solidFill>
              <a:srgbClr val="000000"/>
            </a:solidFill>
            <a:prstDash val="solid"/>
            <a:round/>
          </a:ln>
        </p:spPr>
      </p:sp>
      <p:sp>
        <p:nvSpPr>
          <p:cNvPr id="146" name="Rectangle"/>
          <p:cNvSpPr>
            <a:spLocks/>
          </p:cNvSpPr>
          <p:nvPr/>
        </p:nvSpPr>
        <p:spPr>
          <a:xfrm>
            <a:off x="6705600" y="723900"/>
            <a:ext cx="3962400" cy="92332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5400" b="0" i="0" u="none" strike="noStrike" kern="1200" cap="none" spc="0" baseline="0">
                <a:solidFill>
                  <a:schemeClr val="tx1"/>
                </a:solidFill>
                <a:latin typeface="Algerian" pitchFamily="82" charset="0"/>
                <a:ea typeface="宋体" charset="0"/>
                <a:cs typeface="Calibri" charset="0"/>
              </a:rPr>
              <a:t>SDG</a:t>
            </a:r>
            <a:r>
              <a:rPr lang="en-US" altLang="zh-CN" sz="5400" b="1" i="0" u="none" strike="noStrike" kern="1200" cap="none" spc="0" baseline="0">
                <a:solidFill>
                  <a:schemeClr val="tx1"/>
                </a:solidFill>
                <a:latin typeface="Algerian" pitchFamily="82" charset="0"/>
                <a:ea typeface="宋体" charset="0"/>
                <a:cs typeface="Calibri" charset="0"/>
              </a:rPr>
              <a:t> </a:t>
            </a:r>
            <a:r>
              <a:rPr lang="en-US" altLang="zh-CN" sz="5400" b="0" i="0" u="none" strike="noStrike" kern="1200" cap="none" spc="0" baseline="0">
                <a:solidFill>
                  <a:schemeClr val="tx1"/>
                </a:solidFill>
                <a:latin typeface="Algerian" pitchFamily="82" charset="0"/>
                <a:ea typeface="宋体" charset="0"/>
                <a:cs typeface="Calibri" charset="0"/>
              </a:rPr>
              <a:t>GOALS</a:t>
            </a:r>
            <a:endParaRPr lang="zh-CN" altLang="en-US" sz="5400" b="0" i="0" u="none" strike="noStrike" kern="1200" cap="none" spc="0" baseline="0">
              <a:solidFill>
                <a:schemeClr val="tx1"/>
              </a:solidFill>
              <a:latin typeface="Calibri" charset="0"/>
              <a:ea typeface="宋体" charset="0"/>
              <a:cs typeface="Calibri" charset="0"/>
            </a:endParaRPr>
          </a:p>
        </p:txBody>
      </p:sp>
      <p:sp>
        <p:nvSpPr>
          <p:cNvPr id="147" name="Rectangle"/>
          <p:cNvSpPr>
            <a:spLocks/>
          </p:cNvSpPr>
          <p:nvPr/>
        </p:nvSpPr>
        <p:spPr>
          <a:xfrm>
            <a:off x="2438400" y="3771900"/>
            <a:ext cx="7620000" cy="172354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4400" b="0" i="0" u="none" strike="noStrike" kern="1200" cap="none" spc="0" baseline="0" dirty="0">
                <a:solidFill>
                  <a:schemeClr val="tx1"/>
                </a:solidFill>
                <a:latin typeface="Calibri" charset="0"/>
                <a:ea typeface="宋体" charset="0"/>
                <a:cs typeface="Calibri" charset="0"/>
              </a:rPr>
              <a:t>SDG 3:GOOD HEALTH AND WELL-BEING</a:t>
            </a:r>
          </a:p>
          <a:p>
            <a:pPr marL="0" indent="0" algn="l">
              <a:lnSpc>
                <a:spcPct val="100000"/>
              </a:lnSpc>
              <a:spcBef>
                <a:spcPts val="0"/>
              </a:spcBef>
              <a:spcAft>
                <a:spcPts val="0"/>
              </a:spcAft>
              <a:buNone/>
            </a:pPr>
            <a:endParaRPr lang="zh-CN" altLang="en-US" sz="1800" b="0" i="0" u="none" strike="noStrike" kern="1200" cap="none" spc="0" baseline="0" dirty="0">
              <a:solidFill>
                <a:schemeClr val="tx1"/>
              </a:solidFill>
              <a:latin typeface="Calibri" charset="0"/>
              <a:ea typeface="宋体" charset="0"/>
              <a:cs typeface="Calibri" charset="0"/>
            </a:endParaRPr>
          </a:p>
        </p:txBody>
      </p:sp>
      <p:sp>
        <p:nvSpPr>
          <p:cNvPr id="148" name="Rectangle"/>
          <p:cNvSpPr>
            <a:spLocks/>
          </p:cNvSpPr>
          <p:nvPr/>
        </p:nvSpPr>
        <p:spPr>
          <a:xfrm>
            <a:off x="2286000" y="6057900"/>
            <a:ext cx="8226190" cy="144655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r>
              <a:rPr lang="en-US" sz="4400" dirty="0">
                <a:latin typeface="Calibri" pitchFamily="34" charset="0"/>
                <a:ea typeface="Calibri" pitchFamily="34" charset="0"/>
                <a:cs typeface="Calibri" pitchFamily="34" charset="0"/>
              </a:rPr>
              <a:t>SDG 9 – Industry, Innovation and Infrastructure</a:t>
            </a:r>
            <a:endParaRPr lang="zh-CN" altLang="en-US" sz="4400" i="0" u="none" strike="noStrike" kern="1200" cap="none" spc="0" baseline="0" dirty="0">
              <a:solidFill>
                <a:schemeClr val="tx1"/>
              </a:solidFill>
              <a:latin typeface="Calibri" pitchFamily="34" charset="0"/>
              <a:cs typeface="Calibri" pitchFamily="34" charset="0"/>
            </a:endParaRPr>
          </a:p>
        </p:txBody>
      </p:sp>
      <p:sp>
        <p:nvSpPr>
          <p:cNvPr id="149" name="右箭头"/>
          <p:cNvSpPr>
            <a:spLocks/>
          </p:cNvSpPr>
          <p:nvPr/>
        </p:nvSpPr>
        <p:spPr>
          <a:xfrm>
            <a:off x="685800" y="4152900"/>
            <a:ext cx="1219200" cy="762000"/>
          </a:xfrm>
          <a:prstGeom prst="rightArrow">
            <a:avLst>
              <a:gd name="adj1" fmla="val 50000"/>
              <a:gd name="adj2" fmla="val 48748"/>
            </a:avLst>
          </a:prstGeom>
          <a:solidFill>
            <a:schemeClr val="accent1"/>
          </a:solidFill>
          <a:ln w="25400" cap="flat" cmpd="sng">
            <a:solidFill>
              <a:srgbClr val="385D8A"/>
            </a:solidFill>
            <a:prstDash val="solid"/>
            <a:round/>
          </a:ln>
        </p:spPr>
      </p:sp>
      <p:sp>
        <p:nvSpPr>
          <p:cNvPr id="150" name="右箭头"/>
          <p:cNvSpPr>
            <a:spLocks/>
          </p:cNvSpPr>
          <p:nvPr/>
        </p:nvSpPr>
        <p:spPr>
          <a:xfrm>
            <a:off x="685800" y="6286499"/>
            <a:ext cx="1219200" cy="762000"/>
          </a:xfrm>
          <a:prstGeom prst="rightArrow">
            <a:avLst>
              <a:gd name="adj1" fmla="val 50000"/>
              <a:gd name="adj2" fmla="val 48748"/>
            </a:avLst>
          </a:prstGeom>
          <a:solidFill>
            <a:schemeClr val="accent1"/>
          </a:solidFill>
          <a:ln w="25400" cap="flat" cmpd="sng">
            <a:solidFill>
              <a:srgbClr val="385D8A"/>
            </a:solidFill>
            <a:prstDash val="solid"/>
            <a:round/>
          </a:ln>
        </p:spPr>
      </p:sp>
      <p:pic>
        <p:nvPicPr>
          <p:cNvPr id="151" name="Image"/>
          <p:cNvPicPr>
            <a:picLocks noChangeAspect="1"/>
          </p:cNvPicPr>
          <p:nvPr/>
        </p:nvPicPr>
        <p:blipFill>
          <a:blip r:embed="rId4" cstate="print"/>
          <a:stretch>
            <a:fillRect/>
          </a:stretch>
        </p:blipFill>
        <p:spPr>
          <a:xfrm>
            <a:off x="10896601" y="3390900"/>
            <a:ext cx="4876800" cy="2081018"/>
          </a:xfrm>
          <a:prstGeom prst="rect">
            <a:avLst/>
          </a:prstGeom>
          <a:noFill/>
          <a:ln w="12700" cap="flat" cmpd="sng">
            <a:noFill/>
            <a:prstDash val="solid"/>
            <a:miter/>
          </a:ln>
        </p:spPr>
      </p:pic>
      <p:sp>
        <p:nvSpPr>
          <p:cNvPr id="153" name="Straight line"/>
          <p:cNvSpPr>
            <a:spLocks/>
          </p:cNvSpPr>
          <p:nvPr/>
        </p:nvSpPr>
        <p:spPr>
          <a:xfrm flipV="1">
            <a:off x="0" y="2019300"/>
            <a:ext cx="17865820" cy="0"/>
          </a:xfrm>
          <a:prstGeom prst="line">
            <a:avLst/>
          </a:prstGeom>
          <a:noFill/>
          <a:ln w="38100" cap="flat" cmpd="sng">
            <a:solidFill>
              <a:srgbClr val="000000"/>
            </a:solidFill>
            <a:prstDash val="solid"/>
            <a:round/>
          </a:ln>
        </p:spPr>
      </p:sp>
      <p:pic>
        <p:nvPicPr>
          <p:cNvPr id="14" name="Picture 13" descr="Sustainable_Development_Goal_09Industry.svg.png"/>
          <p:cNvPicPr>
            <a:picLocks noChangeAspect="1"/>
          </p:cNvPicPr>
          <p:nvPr/>
        </p:nvPicPr>
        <p:blipFill>
          <a:blip r:embed="rId5" cstate="print"/>
          <a:stretch>
            <a:fillRect/>
          </a:stretch>
        </p:blipFill>
        <p:spPr>
          <a:xfrm>
            <a:off x="11448320" y="5863600"/>
            <a:ext cx="5585033" cy="2875439"/>
          </a:xfrm>
          <a:prstGeom prst="rect">
            <a:avLst/>
          </a:prstGeom>
        </p:spPr>
      </p:pic>
    </p:spTree>
    <p:extLst>
      <p:ext uri="{BB962C8B-B14F-4D97-AF65-F5344CB8AC3E}">
        <p14:creationId xmlns:p14="http://schemas.microsoft.com/office/powerpoint/2010/main" val="245126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4" name="Straight line"/>
          <p:cNvSpPr>
            <a:spLocks/>
          </p:cNvSpPr>
          <p:nvPr/>
        </p:nvSpPr>
        <p:spPr>
          <a:xfrm flipV="1">
            <a:off x="0" y="2019300"/>
            <a:ext cx="17865820" cy="0"/>
          </a:xfrm>
          <a:prstGeom prst="line">
            <a:avLst/>
          </a:prstGeom>
          <a:noFill/>
          <a:ln w="38100" cap="flat" cmpd="sng">
            <a:solidFill>
              <a:srgbClr val="000000"/>
            </a:solidFill>
            <a:prstDash val="solid"/>
            <a:round/>
          </a:ln>
        </p:spPr>
      </p:sp>
      <p:sp>
        <p:nvSpPr>
          <p:cNvPr id="155" name="曲线"/>
          <p:cNvSpPr>
            <a:spLocks/>
          </p:cNvSpPr>
          <p:nvPr/>
        </p:nvSpPr>
        <p:spPr>
          <a:xfrm>
            <a:off x="152400" y="9182100"/>
            <a:ext cx="2337225" cy="906054"/>
          </a:xfrm>
          <a:custGeom>
            <a:avLst/>
            <a:gdLst>
              <a:gd name="T1" fmla="*/ 0 w 21600"/>
              <a:gd name="T2" fmla="*/ 0 h 21600"/>
              <a:gd name="T3" fmla="*/ 21600 w 21600"/>
              <a:gd name="T4" fmla="*/ 21600 h 21600"/>
            </a:gdLst>
            <a:ahLst/>
            <a:cxnLst/>
            <a:rect l="T1" t="T2" r="T3" b="T4"/>
            <a:pathLst>
              <a:path w="21600" h="21600">
                <a:moveTo>
                  <a:pt x="0" y="0"/>
                </a:moveTo>
                <a:lnTo>
                  <a:pt x="21600" y="0"/>
                </a:lnTo>
                <a:lnTo>
                  <a:pt x="21600" y="21600"/>
                </a:lnTo>
                <a:lnTo>
                  <a:pt x="0" y="21600"/>
                </a:lnTo>
                <a:lnTo>
                  <a:pt x="0" y="0"/>
                </a:lnTo>
                <a:close/>
              </a:path>
            </a:pathLst>
          </a:custGeom>
          <a:blipFill rotWithShape="1">
            <a:blip r:embed="rId2" cstate="print"/>
            <a:stretch/>
          </a:blipFill>
          <a:ln cap="flat" cmpd="sng">
            <a:noFill/>
            <a:prstDash val="solid"/>
            <a:miter/>
          </a:ln>
        </p:spPr>
      </p:sp>
      <p:pic>
        <p:nvPicPr>
          <p:cNvPr id="156" name="Image"/>
          <p:cNvPicPr>
            <a:picLocks noChangeAspect="1"/>
          </p:cNvPicPr>
          <p:nvPr/>
        </p:nvPicPr>
        <p:blipFill>
          <a:blip r:embed="rId3" cstate="print"/>
          <a:stretch>
            <a:fillRect/>
          </a:stretch>
        </p:blipFill>
        <p:spPr>
          <a:xfrm>
            <a:off x="16916400" y="8966090"/>
            <a:ext cx="1371600" cy="1320910"/>
          </a:xfrm>
          <a:prstGeom prst="rect">
            <a:avLst/>
          </a:prstGeom>
          <a:noFill/>
          <a:ln w="12700" cap="flat" cmpd="sng">
            <a:noFill/>
            <a:prstDash val="solid"/>
            <a:miter/>
          </a:ln>
        </p:spPr>
      </p:pic>
      <p:sp>
        <p:nvSpPr>
          <p:cNvPr id="157" name="Oval" descr="Your startup LOGO"/>
          <p:cNvSpPr>
            <a:spLocks/>
          </p:cNvSpPr>
          <p:nvPr/>
        </p:nvSpPr>
        <p:spPr>
          <a:xfrm>
            <a:off x="558374" y="369830"/>
            <a:ext cx="1251857" cy="807334"/>
          </a:xfrm>
          <a:prstGeom prst="ellipse">
            <a:avLst/>
          </a:prstGeom>
          <a:solidFill>
            <a:srgbClr val="FFFFFF"/>
          </a:solidFill>
          <a:ln w="25400" cap="flat" cmpd="sng">
            <a:solidFill>
              <a:srgbClr val="8064A2"/>
            </a:solidFill>
            <a:prstDash val="solid"/>
            <a:round/>
          </a:ln>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1600" b="0" i="0" u="none" strike="noStrike" kern="1200" cap="none" spc="0" baseline="0">
                <a:solidFill>
                  <a:srgbClr val="000000"/>
                </a:solidFill>
                <a:latin typeface="Calibri" charset="0"/>
                <a:ea typeface="宋体" charset="0"/>
                <a:cs typeface="Calibri" charset="0"/>
              </a:rPr>
              <a:t>IDEATEX</a:t>
            </a:r>
            <a:endParaRPr lang="zh-CN" altLang="en-US" sz="1600" b="0" i="0" u="none" strike="noStrike" kern="1200" cap="none" spc="0" baseline="0">
              <a:solidFill>
                <a:srgbClr val="000000"/>
              </a:solidFill>
              <a:latin typeface="Calibri" charset="0"/>
              <a:ea typeface="宋体" charset="0"/>
              <a:cs typeface="Calibri" charset="0"/>
            </a:endParaRPr>
          </a:p>
        </p:txBody>
      </p:sp>
      <p:sp>
        <p:nvSpPr>
          <p:cNvPr id="158" name="Rectangle"/>
          <p:cNvSpPr>
            <a:spLocks/>
          </p:cNvSpPr>
          <p:nvPr/>
        </p:nvSpPr>
        <p:spPr>
          <a:xfrm>
            <a:off x="4572000" y="495300"/>
            <a:ext cx="9562234" cy="1200329"/>
          </a:xfrm>
          <a:prstGeom prst="rect">
            <a:avLst/>
          </a:prstGeom>
          <a:noFill/>
          <a:ln w="12700" cap="flat" cmpd="sng">
            <a:noFill/>
            <a:prstDash val="solid"/>
            <a:miter/>
          </a:ln>
        </p:spPr>
        <p:txBody>
          <a:bodyPr vert="horz" wrap="non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5400" b="0" i="0" u="none" strike="noStrike" kern="1200" cap="none" spc="0" baseline="0">
                <a:solidFill>
                  <a:schemeClr val="tx1"/>
                </a:solidFill>
                <a:latin typeface="Algerian" pitchFamily="82" charset="0"/>
                <a:ea typeface="宋体" charset="0"/>
                <a:cs typeface="Calibri" charset="0"/>
              </a:rPr>
              <a:t>RESEARCH AND REFERENCES</a:t>
            </a:r>
            <a:br>
              <a:rPr lang="zh-CN" altLang="en-US" sz="1800" b="0" i="0" u="none" strike="noStrike" kern="1200" cap="none" spc="0" baseline="0">
                <a:solidFill>
                  <a:schemeClr val="tx1"/>
                </a:solidFill>
                <a:latin typeface="Calibri" charset="0"/>
                <a:ea typeface="宋体" charset="0"/>
                <a:cs typeface="Calibri" charset="0"/>
              </a:rPr>
            </a:br>
            <a:endParaRPr lang="zh-CN" altLang="en-US" sz="1800" b="0" i="0" u="none" strike="noStrike" kern="1200" cap="none" spc="0" baseline="0">
              <a:solidFill>
                <a:schemeClr val="tx1"/>
              </a:solidFill>
              <a:latin typeface="Calibri" charset="0"/>
              <a:ea typeface="宋体" charset="0"/>
              <a:cs typeface="Calibri" charset="0"/>
            </a:endParaRPr>
          </a:p>
        </p:txBody>
      </p:sp>
      <p:sp>
        <p:nvSpPr>
          <p:cNvPr id="159" name="Rectangle"/>
          <p:cNvSpPr>
            <a:spLocks/>
          </p:cNvSpPr>
          <p:nvPr/>
        </p:nvSpPr>
        <p:spPr>
          <a:xfrm>
            <a:off x="1524000" y="2171700"/>
            <a:ext cx="15392400" cy="747897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a:buFont typeface="Wingdings" pitchFamily="2" charset="2"/>
              <a:buChar char="v"/>
            </a:pPr>
            <a:r>
              <a:rPr lang="en-US" sz="4000" b="1" dirty="0" err="1"/>
              <a:t>Arduino</a:t>
            </a:r>
            <a:r>
              <a:rPr lang="en-US" sz="4000" b="1" dirty="0"/>
              <a:t> Official Documentation</a:t>
            </a:r>
            <a:br>
              <a:rPr lang="en-US" sz="4000" dirty="0"/>
            </a:br>
            <a:r>
              <a:rPr lang="en-US" sz="4000" dirty="0">
                <a:hlinkClick r:id="rId4"/>
              </a:rPr>
              <a:t>https://www.arduino.cc</a:t>
            </a:r>
            <a:r>
              <a:rPr lang="en-US" sz="4000" dirty="0"/>
              <a:t> </a:t>
            </a:r>
          </a:p>
          <a:p>
            <a:pPr>
              <a:buFont typeface="Wingdings" pitchFamily="2" charset="2"/>
              <a:buChar char="v"/>
            </a:pPr>
            <a:r>
              <a:rPr lang="en-US" sz="4000" b="1" dirty="0"/>
              <a:t>MQ-2 Gas Sensor Datasheet</a:t>
            </a:r>
            <a:br>
              <a:rPr lang="en-US" sz="4000" dirty="0"/>
            </a:br>
            <a:r>
              <a:rPr lang="en-US" sz="4000" dirty="0"/>
              <a:t>Technical specifications and working principles of MQ-2 gas sensors used for LPG, methane, and smoke detection.</a:t>
            </a:r>
          </a:p>
          <a:p>
            <a:pPr>
              <a:buFont typeface="Wingdings" pitchFamily="2" charset="2"/>
              <a:buChar char="v"/>
            </a:pPr>
            <a:r>
              <a:rPr lang="en-US" sz="4000" dirty="0"/>
              <a:t> </a:t>
            </a:r>
            <a:r>
              <a:rPr lang="en-US" sz="4000" b="1" dirty="0"/>
              <a:t>National Fire Protection Association (NFPA)</a:t>
            </a:r>
            <a:br>
              <a:rPr lang="en-US" sz="4000" dirty="0"/>
            </a:br>
            <a:r>
              <a:rPr lang="en-US" sz="4000" dirty="0">
                <a:hlinkClick r:id="rId5"/>
              </a:rPr>
              <a:t>https://www.nfpa.org</a:t>
            </a:r>
            <a:br>
              <a:rPr lang="en-US" sz="4000" dirty="0"/>
            </a:br>
            <a:r>
              <a:rPr lang="en-US" sz="4000" dirty="0"/>
              <a:t>Fire safety standards and gas leakage prevention guidelines. </a:t>
            </a:r>
          </a:p>
          <a:p>
            <a:pPr>
              <a:buFont typeface="Wingdings" pitchFamily="2" charset="2"/>
              <a:buChar char="v"/>
            </a:pPr>
            <a:r>
              <a:rPr lang="en-US" sz="4000" b="1" dirty="0"/>
              <a:t>Occupational Safety and Health Administration (OSHA)</a:t>
            </a:r>
            <a:br>
              <a:rPr lang="en-US" sz="4000" dirty="0"/>
            </a:br>
            <a:r>
              <a:rPr lang="en-US" sz="4000" dirty="0">
                <a:hlinkClick r:id="rId6"/>
              </a:rPr>
              <a:t>https://www.osha.gov</a:t>
            </a:r>
            <a:br>
              <a:rPr lang="en-US" sz="4000" dirty="0"/>
            </a:br>
            <a:r>
              <a:rPr lang="en-US" sz="4000" dirty="0"/>
              <a:t>Workplace safety standards related to hazardous gases.</a:t>
            </a:r>
            <a:endParaRPr lang="en-US" altLang="zh-CN" sz="4000" b="0" i="0" u="none" strike="noStrike" kern="1200" cap="none" spc="0" baseline="0" dirty="0">
              <a:solidFill>
                <a:schemeClr val="tx1"/>
              </a:solidFill>
              <a:latin typeface="Calibri" charset="0"/>
              <a:ea typeface="宋体" charset="0"/>
              <a:cs typeface="Calibri" charset="0"/>
            </a:endParaRPr>
          </a:p>
          <a:p>
            <a:pPr marL="0" indent="0" algn="l">
              <a:lnSpc>
                <a:spcPct val="100000"/>
              </a:lnSpc>
              <a:spcBef>
                <a:spcPts val="0"/>
              </a:spcBef>
              <a:spcAft>
                <a:spcPts val="0"/>
              </a:spcAft>
              <a:buNone/>
            </a:pPr>
            <a:endParaRPr lang="zh-CN" altLang="en-US" sz="4000" b="0" i="0" u="none" strike="noStrike" kern="1200" cap="none" spc="0" baseline="0" dirty="0">
              <a:solidFill>
                <a:schemeClr val="tx1"/>
              </a:solidFill>
              <a:latin typeface="Calibri" charset="0"/>
              <a:ea typeface="宋体" charset="0"/>
              <a:cs typeface="Calibri" charset="0"/>
            </a:endParaRPr>
          </a:p>
        </p:txBody>
      </p:sp>
    </p:spTree>
    <p:extLst>
      <p:ext uri="{BB962C8B-B14F-4D97-AF65-F5344CB8AC3E}">
        <p14:creationId xmlns:p14="http://schemas.microsoft.com/office/powerpoint/2010/main" val="1395307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0" name="对角圆角矩形"/>
          <p:cNvSpPr>
            <a:spLocks/>
          </p:cNvSpPr>
          <p:nvPr/>
        </p:nvSpPr>
        <p:spPr>
          <a:xfrm>
            <a:off x="0" y="1790699"/>
            <a:ext cx="17939242" cy="6093727"/>
          </a:xfrm>
          <a:prstGeom prst="round2DiagRect">
            <a:avLst>
              <a:gd name="adj1" fmla="val 16666"/>
              <a:gd name="adj2" fmla="val 64"/>
            </a:avLst>
          </a:prstGeom>
          <a:solidFill>
            <a:srgbClr val="D9D9D9"/>
          </a:solidFill>
          <a:ln w="38100" cap="flat" cmpd="sng">
            <a:solidFill>
              <a:srgbClr val="000000"/>
            </a:solidFill>
            <a:prstDash val="solid"/>
            <a:round/>
          </a:ln>
          <a:effectLst>
            <a:outerShdw blurRad="40000" dist="23000" dir="5400000" rotWithShape="0">
              <a:srgbClr val="000000">
                <a:alpha val="34509"/>
              </a:srgbClr>
            </a:outerShdw>
          </a:effectLst>
        </p:spPr>
        <p:txBody>
          <a:bodyPr vert="horz" wrap="square" lIns="91440" tIns="45720" rIns="91440" bIns="45720" anchor="ctr" anchorCtr="0">
            <a:prstTxWarp prst="textNoShape">
              <a:avLst/>
            </a:prstTxWarp>
          </a:bodyPr>
          <a:lstStyle/>
          <a:p>
            <a:pPr marL="0" indent="0" algn="ctr">
              <a:lnSpc>
                <a:spcPct val="100000"/>
              </a:lnSpc>
              <a:spcBef>
                <a:spcPts val="0"/>
              </a:spcBef>
              <a:spcAft>
                <a:spcPts val="0"/>
              </a:spcAft>
              <a:buNone/>
            </a:pPr>
            <a:r>
              <a:rPr lang="en-US" altLang="zh-CN" sz="20000" b="1" i="0" u="none" strike="noStrike" kern="1200" cap="none" spc="0" baseline="0">
                <a:solidFill>
                  <a:schemeClr val="tx1"/>
                </a:solidFill>
                <a:latin typeface="Calibri" charset="0"/>
                <a:ea typeface="宋体" charset="0"/>
                <a:cs typeface="Calibri" charset="0"/>
              </a:rPr>
              <a:t>THANK YOU</a:t>
            </a:r>
            <a:endParaRPr lang="zh-CN" altLang="en-US" sz="20000" b="1" i="0" u="none" strike="noStrike" kern="1200" cap="none" spc="0" baseline="0">
              <a:solidFill>
                <a:schemeClr val="tx1"/>
              </a:solidFill>
              <a:latin typeface="Calibri" charset="0"/>
              <a:ea typeface="宋体" charset="0"/>
              <a:cs typeface="Calibri" charset="0"/>
            </a:endParaRPr>
          </a:p>
        </p:txBody>
      </p:sp>
      <p:sp>
        <p:nvSpPr>
          <p:cNvPr id="161" name="Rectangle"/>
          <p:cNvSpPr>
            <a:spLocks/>
          </p:cNvSpPr>
          <p:nvPr/>
        </p:nvSpPr>
        <p:spPr>
          <a:xfrm>
            <a:off x="367831" y="1915454"/>
            <a:ext cx="17310568" cy="5742646"/>
          </a:xfrm>
          <a:prstGeom prst="rect">
            <a:avLst/>
          </a:prstGeom>
          <a:noFill/>
          <a:ln w="12700" cap="flat" cmpd="sng">
            <a:noFill/>
            <a:prstDash val="solid"/>
            <a:round/>
          </a:ln>
        </p:spPr>
        <p:txBody>
          <a:bodyPr vert="horz" wrap="square" lIns="91425" tIns="45700" rIns="91425" bIns="45700" anchor="t" anchorCtr="0">
            <a:prstTxWarp prst="textNoShape">
              <a:avLst/>
            </a:prstTxWarp>
          </a:bodyPr>
          <a:lstStyle/>
          <a:p>
            <a:pPr marL="514350" indent="-514350" algn="just">
              <a:lnSpc>
                <a:spcPct val="90000"/>
              </a:lnSpc>
              <a:spcBef>
                <a:spcPts val="1000"/>
              </a:spcBef>
              <a:spcAft>
                <a:spcPts val="0"/>
              </a:spcAft>
              <a:buNone/>
            </a:pPr>
            <a:endParaRPr lang="en-US" altLang="zh-CN" sz="2800" b="1" i="0" u="none" strike="noStrike" kern="1200" cap="none" spc="0" baseline="0">
              <a:solidFill>
                <a:srgbClr val="C00000"/>
              </a:solidFill>
              <a:latin typeface="Arial" pitchFamily="34" charset="0"/>
              <a:ea typeface="宋体" charset="0"/>
              <a:cs typeface="Arial" pitchFamily="34" charset="0"/>
            </a:endParaRPr>
          </a:p>
          <a:p>
            <a:pPr marL="914400" lvl="1" indent="-316230" algn="just">
              <a:lnSpc>
                <a:spcPct val="90000"/>
              </a:lnSpc>
              <a:spcBef>
                <a:spcPts val="500"/>
              </a:spcBef>
              <a:spcAft>
                <a:spcPts val="0"/>
              </a:spcAft>
              <a:buNone/>
            </a:pPr>
            <a:endParaRPr lang="zh-CN" altLang="en-US" sz="2000" b="1" i="0" u="none" strike="noStrike" kern="1200" cap="none" spc="0" baseline="0">
              <a:solidFill>
                <a:srgbClr val="000000"/>
              </a:solidFill>
              <a:latin typeface="Arial" pitchFamily="34" charset="0"/>
              <a:ea typeface="Calibri" charset="0"/>
              <a:cs typeface="Arial" pitchFamily="34" charset="0"/>
              <a:sym typeface="Calibri" charset="0"/>
            </a:endParaRPr>
          </a:p>
        </p:txBody>
      </p:sp>
    </p:spTree>
    <p:extLst>
      <p:ext uri="{BB962C8B-B14F-4D97-AF65-F5344CB8AC3E}">
        <p14:creationId xmlns:p14="http://schemas.microsoft.com/office/powerpoint/2010/main" val="74646324"/>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
        <a:ea typeface=""/>
        <a:cs typeface=""/>
      </a:majorFont>
      <a:minorFont>
        <a:latin typeface=""/>
        <a:ea typeface=""/>
        <a:cs typeface=""/>
      </a:minorFont>
    </a:fontScheme>
    <a:fmtScheme name="Office Theme">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599</TotalTime>
  <Words>1161</Words>
  <Application>Microsoft Office PowerPoint</Application>
  <PresentationFormat>Custom</PresentationFormat>
  <Paragraphs>180</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Algerian</vt:lpstr>
      <vt:lpstr>Aptos Display</vt:lpstr>
      <vt:lpstr>Arial</vt:lpstr>
      <vt:lpstr>Calibri</vt:lpstr>
      <vt:lpstr>Droid Sans</vt:lpstr>
      <vt:lpstr>Open Sauce 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SCE-Idea Hackathon</dc:title>
  <dc:creator>C VALAR MATHI</dc:creator>
  <cp:lastModifiedBy>DEEPIKA S</cp:lastModifiedBy>
  <cp:revision>78</cp:revision>
  <dcterms:created xsi:type="dcterms:W3CDTF">2006-08-16T00:00:00Z</dcterms:created>
  <dcterms:modified xsi:type="dcterms:W3CDTF">2026-07-26T14:59:41Z</dcterms:modified>
</cp:coreProperties>
</file>